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Arial Bold" charset="1" panose="020B0802020202020204"/>
      <p:regular r:id="rId14"/>
    </p:embeddedFont>
    <p:embeddedFont>
      <p:font typeface="Arial" charset="1" panose="020B0502020202020204"/>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https://github.com/Suvarna112/HealthQ.git"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6.jpeg" Type="http://schemas.openxmlformats.org/officeDocument/2006/relationships/image"/><Relationship Id="rId5" Target="../media/VAGi551cRvw.mp4" Type="http://schemas.openxmlformats.org/officeDocument/2006/relationships/video"/><Relationship Id="rId6" Target="../media/VAGi551cRvw.mp4" Type="http://schemas.microsoft.com/office/2007/relationships/media"/></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7.jpeg" Type="http://schemas.openxmlformats.org/officeDocument/2006/relationships/image"/><Relationship Id="rId5" Target="../media/VAGi6Mtem-Y.mp4" Type="http://schemas.openxmlformats.org/officeDocument/2006/relationships/video"/><Relationship Id="rId6" Target="../media/VAGi6Mtem-Y.mp4" Type="http://schemas.microsoft.com/office/2007/relationships/media"/></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926810" y="5233832"/>
            <a:ext cx="9055200" cy="760650"/>
            <a:chOff x="0" y="0"/>
            <a:chExt cx="12073600" cy="1014200"/>
          </a:xfrm>
        </p:grpSpPr>
        <p:sp>
          <p:nvSpPr>
            <p:cNvPr name="Freeform 3" id="3"/>
            <p:cNvSpPr/>
            <p:nvPr/>
          </p:nvSpPr>
          <p:spPr>
            <a:xfrm flipH="false" flipV="false" rot="0">
              <a:off x="0" y="0"/>
              <a:ext cx="12073600" cy="1014200"/>
            </a:xfrm>
            <a:custGeom>
              <a:avLst/>
              <a:gdLst/>
              <a:ahLst/>
              <a:cxnLst/>
              <a:rect r="r" b="b" t="t" l="l"/>
              <a:pathLst>
                <a:path h="1014200" w="12073600">
                  <a:moveTo>
                    <a:pt x="0" y="0"/>
                  </a:moveTo>
                  <a:lnTo>
                    <a:pt x="12073600" y="0"/>
                  </a:lnTo>
                  <a:lnTo>
                    <a:pt x="12073600" y="1014200"/>
                  </a:lnTo>
                  <a:lnTo>
                    <a:pt x="0" y="1014200"/>
                  </a:lnTo>
                  <a:close/>
                </a:path>
              </a:pathLst>
            </a:custGeom>
            <a:solidFill>
              <a:srgbClr val="000000">
                <a:alpha val="0"/>
              </a:srgbClr>
            </a:solidFill>
          </p:spPr>
        </p:sp>
        <p:sp>
          <p:nvSpPr>
            <p:cNvPr name="TextBox 4" id="4"/>
            <p:cNvSpPr txBox="true"/>
            <p:nvPr/>
          </p:nvSpPr>
          <p:spPr>
            <a:xfrm>
              <a:off x="0" y="-95250"/>
              <a:ext cx="12073600" cy="1109450"/>
            </a:xfrm>
            <a:prstGeom prst="rect">
              <a:avLst/>
            </a:prstGeom>
          </p:spPr>
          <p:txBody>
            <a:bodyPr anchor="t" rtlCol="false" tIns="0" lIns="0" bIns="0" rIns="0"/>
            <a:lstStyle/>
            <a:p>
              <a:pPr algn="ctr">
                <a:lnSpc>
                  <a:spcPts val="3827"/>
                </a:lnSpc>
              </a:pPr>
              <a:r>
                <a:rPr lang="en-US" sz="2899" b="true">
                  <a:solidFill>
                    <a:srgbClr val="000000"/>
                  </a:solidFill>
                  <a:latin typeface="Arial Bold"/>
                  <a:ea typeface="Arial Bold"/>
                  <a:cs typeface="Arial Bold"/>
                  <a:sym typeface="Arial Bold"/>
                </a:rPr>
                <a:t>Team Name : </a:t>
              </a:r>
              <a:r>
                <a:rPr lang="en-US" sz="2899">
                  <a:solidFill>
                    <a:srgbClr val="000000"/>
                  </a:solidFill>
                  <a:latin typeface="Arial"/>
                  <a:ea typeface="Arial"/>
                  <a:cs typeface="Arial"/>
                  <a:sym typeface="Arial"/>
                </a:rPr>
                <a:t>Maniacs</a:t>
              </a:r>
            </a:p>
          </p:txBody>
        </p:sp>
      </p:grpSp>
      <p:grpSp>
        <p:nvGrpSpPr>
          <p:cNvPr name="Group 5" id="5"/>
          <p:cNvGrpSpPr/>
          <p:nvPr/>
        </p:nvGrpSpPr>
        <p:grpSpPr>
          <a:xfrm rot="0">
            <a:off x="7185212" y="2999624"/>
            <a:ext cx="10972344" cy="2053446"/>
            <a:chOff x="0" y="0"/>
            <a:chExt cx="14629792" cy="2737928"/>
          </a:xfrm>
        </p:grpSpPr>
        <p:sp>
          <p:nvSpPr>
            <p:cNvPr name="Freeform 6" id="6"/>
            <p:cNvSpPr/>
            <p:nvPr/>
          </p:nvSpPr>
          <p:spPr>
            <a:xfrm flipH="false" flipV="false" rot="0">
              <a:off x="0" y="0"/>
              <a:ext cx="14629792" cy="2737928"/>
            </a:xfrm>
            <a:custGeom>
              <a:avLst/>
              <a:gdLst/>
              <a:ahLst/>
              <a:cxnLst/>
              <a:rect r="r" b="b" t="t" l="l"/>
              <a:pathLst>
                <a:path h="2737928" w="14629792">
                  <a:moveTo>
                    <a:pt x="0" y="0"/>
                  </a:moveTo>
                  <a:lnTo>
                    <a:pt x="14629792" y="0"/>
                  </a:lnTo>
                  <a:lnTo>
                    <a:pt x="14629792" y="2737928"/>
                  </a:lnTo>
                  <a:lnTo>
                    <a:pt x="0" y="2737928"/>
                  </a:lnTo>
                  <a:close/>
                </a:path>
              </a:pathLst>
            </a:custGeom>
            <a:solidFill>
              <a:srgbClr val="000000">
                <a:alpha val="0"/>
              </a:srgbClr>
            </a:solidFill>
          </p:spPr>
        </p:sp>
        <p:sp>
          <p:nvSpPr>
            <p:cNvPr name="TextBox 7" id="7"/>
            <p:cNvSpPr txBox="true"/>
            <p:nvPr/>
          </p:nvSpPr>
          <p:spPr>
            <a:xfrm>
              <a:off x="0" y="-66675"/>
              <a:ext cx="14629792" cy="2804603"/>
            </a:xfrm>
            <a:prstGeom prst="rect">
              <a:avLst/>
            </a:prstGeom>
          </p:spPr>
          <p:txBody>
            <a:bodyPr anchor="t" rtlCol="false" tIns="0" lIns="0" bIns="0" rIns="0"/>
            <a:lstStyle/>
            <a:p>
              <a:pPr algn="ctr">
                <a:lnSpc>
                  <a:spcPts val="4079"/>
                </a:lnSpc>
              </a:pPr>
              <a:r>
                <a:rPr lang="en-US" sz="3399" b="true">
                  <a:solidFill>
                    <a:srgbClr val="000000"/>
                  </a:solidFill>
                  <a:latin typeface="Arial Bold"/>
                  <a:ea typeface="Arial Bold"/>
                  <a:cs typeface="Arial Bold"/>
                  <a:sym typeface="Arial Bold"/>
                </a:rPr>
                <a:t>Optimizing Doctor Availability  and Appointment Allocation in Hospitals through Digital Technology and AI Integration</a:t>
              </a:r>
            </a:p>
            <a:p>
              <a:pPr algn="ctr">
                <a:lnSpc>
                  <a:spcPts val="3240"/>
                </a:lnSpc>
              </a:pPr>
            </a:p>
          </p:txBody>
        </p:sp>
      </p:grpSp>
      <p:grpSp>
        <p:nvGrpSpPr>
          <p:cNvPr name="Group 8" id="8"/>
          <p:cNvGrpSpPr/>
          <p:nvPr/>
        </p:nvGrpSpPr>
        <p:grpSpPr>
          <a:xfrm rot="0">
            <a:off x="-12495723" y="-427954"/>
            <a:ext cx="19296152" cy="12579095"/>
            <a:chOff x="0" y="0"/>
            <a:chExt cx="12965644" cy="8452259"/>
          </a:xfrm>
        </p:grpSpPr>
        <p:sp>
          <p:nvSpPr>
            <p:cNvPr name="Freeform 9" id="9"/>
            <p:cNvSpPr/>
            <p:nvPr/>
          </p:nvSpPr>
          <p:spPr>
            <a:xfrm flipH="false" flipV="false" rot="0">
              <a:off x="0" y="0"/>
              <a:ext cx="12965687" cy="8452231"/>
            </a:xfrm>
            <a:custGeom>
              <a:avLst/>
              <a:gdLst/>
              <a:ahLst/>
              <a:cxnLst/>
              <a:rect r="r" b="b" t="t" l="l"/>
              <a:pathLst>
                <a:path h="8452231" w="12965687">
                  <a:moveTo>
                    <a:pt x="0" y="0"/>
                  </a:moveTo>
                  <a:lnTo>
                    <a:pt x="12965687" y="0"/>
                  </a:lnTo>
                  <a:lnTo>
                    <a:pt x="12965687" y="8452231"/>
                  </a:lnTo>
                  <a:lnTo>
                    <a:pt x="0" y="8452231"/>
                  </a:lnTo>
                  <a:lnTo>
                    <a:pt x="0" y="0"/>
                  </a:lnTo>
                  <a:close/>
                </a:path>
              </a:pathLst>
            </a:custGeom>
            <a:blipFill>
              <a:blip r:embed="rId2"/>
              <a:stretch>
                <a:fillRect l="-18081" t="0" r="-18081" b="0"/>
              </a:stretch>
            </a:blipFill>
          </p:spPr>
        </p:sp>
      </p:grpSp>
      <p:grpSp>
        <p:nvGrpSpPr>
          <p:cNvPr name="Group 10" id="10"/>
          <p:cNvGrpSpPr/>
          <p:nvPr/>
        </p:nvGrpSpPr>
        <p:grpSpPr>
          <a:xfrm rot="0">
            <a:off x="14485076" y="7419016"/>
            <a:ext cx="6070895" cy="6356958"/>
            <a:chOff x="0" y="0"/>
            <a:chExt cx="8094527" cy="8475944"/>
          </a:xfrm>
        </p:grpSpPr>
        <p:sp>
          <p:nvSpPr>
            <p:cNvPr name="Freeform 11" id="11"/>
            <p:cNvSpPr/>
            <p:nvPr/>
          </p:nvSpPr>
          <p:spPr>
            <a:xfrm flipH="false" flipV="false" rot="0">
              <a:off x="0" y="0"/>
              <a:ext cx="8094472" cy="8475980"/>
            </a:xfrm>
            <a:custGeom>
              <a:avLst/>
              <a:gdLst/>
              <a:ahLst/>
              <a:cxnLst/>
              <a:rect r="r" b="b" t="t" l="l"/>
              <a:pathLst>
                <a:path h="8475980" w="8094472">
                  <a:moveTo>
                    <a:pt x="0" y="0"/>
                  </a:moveTo>
                  <a:lnTo>
                    <a:pt x="8094472" y="0"/>
                  </a:lnTo>
                  <a:lnTo>
                    <a:pt x="8094472" y="8475980"/>
                  </a:lnTo>
                  <a:lnTo>
                    <a:pt x="0" y="8475980"/>
                  </a:lnTo>
                  <a:lnTo>
                    <a:pt x="0" y="0"/>
                  </a:lnTo>
                  <a:close/>
                </a:path>
              </a:pathLst>
            </a:custGeom>
            <a:blipFill>
              <a:blip r:embed="rId3"/>
              <a:stretch>
                <a:fillRect l="0" t="-40" r="0" b="-40"/>
              </a:stretch>
            </a:blipFill>
          </p:spPr>
        </p:sp>
      </p:grpSp>
      <p:grpSp>
        <p:nvGrpSpPr>
          <p:cNvPr name="Group 12" id="12"/>
          <p:cNvGrpSpPr/>
          <p:nvPr/>
        </p:nvGrpSpPr>
        <p:grpSpPr>
          <a:xfrm rot="0">
            <a:off x="7076186" y="6175244"/>
            <a:ext cx="3092291" cy="495703"/>
            <a:chOff x="0" y="0"/>
            <a:chExt cx="4123055" cy="660937"/>
          </a:xfrm>
        </p:grpSpPr>
        <p:sp>
          <p:nvSpPr>
            <p:cNvPr name="Freeform 13" id="13"/>
            <p:cNvSpPr/>
            <p:nvPr/>
          </p:nvSpPr>
          <p:spPr>
            <a:xfrm flipH="false" flipV="false" rot="0">
              <a:off x="0" y="0"/>
              <a:ext cx="4123055" cy="660937"/>
            </a:xfrm>
            <a:custGeom>
              <a:avLst/>
              <a:gdLst/>
              <a:ahLst/>
              <a:cxnLst/>
              <a:rect r="r" b="b" t="t" l="l"/>
              <a:pathLst>
                <a:path h="660937" w="4123055">
                  <a:moveTo>
                    <a:pt x="0" y="0"/>
                  </a:moveTo>
                  <a:lnTo>
                    <a:pt x="4123055" y="0"/>
                  </a:lnTo>
                  <a:lnTo>
                    <a:pt x="4123055" y="660937"/>
                  </a:lnTo>
                  <a:lnTo>
                    <a:pt x="0" y="660937"/>
                  </a:lnTo>
                  <a:close/>
                </a:path>
              </a:pathLst>
            </a:custGeom>
            <a:solidFill>
              <a:srgbClr val="000000">
                <a:alpha val="0"/>
              </a:srgbClr>
            </a:solidFill>
          </p:spPr>
        </p:sp>
        <p:sp>
          <p:nvSpPr>
            <p:cNvPr name="TextBox 14" id="14"/>
            <p:cNvSpPr txBox="true"/>
            <p:nvPr/>
          </p:nvSpPr>
          <p:spPr>
            <a:xfrm>
              <a:off x="0" y="-85725"/>
              <a:ext cx="4123055" cy="746662"/>
            </a:xfrm>
            <a:prstGeom prst="rect">
              <a:avLst/>
            </a:prstGeom>
          </p:spPr>
          <p:txBody>
            <a:bodyPr anchor="t" rtlCol="false" tIns="0" lIns="0" bIns="0" rIns="0"/>
            <a:lstStyle/>
            <a:p>
              <a:pPr algn="ctr">
                <a:lnSpc>
                  <a:spcPts val="3564"/>
                </a:lnSpc>
              </a:pPr>
              <a:r>
                <a:rPr lang="en-US" sz="2700" b="true">
                  <a:solidFill>
                    <a:srgbClr val="000000"/>
                  </a:solidFill>
                  <a:latin typeface="Arial Bold"/>
                  <a:ea typeface="Arial Bold"/>
                  <a:cs typeface="Arial Bold"/>
                  <a:sym typeface="Arial Bold"/>
                </a:rPr>
                <a:t>Team Members</a:t>
              </a:r>
            </a:p>
          </p:txBody>
        </p:sp>
      </p:grpSp>
      <p:grpSp>
        <p:nvGrpSpPr>
          <p:cNvPr name="Group 15" id="15"/>
          <p:cNvGrpSpPr/>
          <p:nvPr/>
        </p:nvGrpSpPr>
        <p:grpSpPr>
          <a:xfrm rot="0">
            <a:off x="9144000" y="7047756"/>
            <a:ext cx="4000500" cy="1468732"/>
            <a:chOff x="0" y="0"/>
            <a:chExt cx="5334000" cy="1958309"/>
          </a:xfrm>
        </p:grpSpPr>
        <p:sp>
          <p:nvSpPr>
            <p:cNvPr name="Freeform 16" id="16"/>
            <p:cNvSpPr/>
            <p:nvPr/>
          </p:nvSpPr>
          <p:spPr>
            <a:xfrm flipH="false" flipV="false" rot="0">
              <a:off x="0" y="0"/>
              <a:ext cx="5334000" cy="1958309"/>
            </a:xfrm>
            <a:custGeom>
              <a:avLst/>
              <a:gdLst/>
              <a:ahLst/>
              <a:cxnLst/>
              <a:rect r="r" b="b" t="t" l="l"/>
              <a:pathLst>
                <a:path h="1958309" w="5334000">
                  <a:moveTo>
                    <a:pt x="0" y="0"/>
                  </a:moveTo>
                  <a:lnTo>
                    <a:pt x="5334000" y="0"/>
                  </a:lnTo>
                  <a:lnTo>
                    <a:pt x="5334000" y="1958309"/>
                  </a:lnTo>
                  <a:lnTo>
                    <a:pt x="0" y="1958309"/>
                  </a:lnTo>
                  <a:close/>
                </a:path>
              </a:pathLst>
            </a:custGeom>
            <a:solidFill>
              <a:srgbClr val="000000">
                <a:alpha val="0"/>
              </a:srgbClr>
            </a:solidFill>
          </p:spPr>
        </p:sp>
        <p:sp>
          <p:nvSpPr>
            <p:cNvPr name="TextBox 17" id="17"/>
            <p:cNvSpPr txBox="true"/>
            <p:nvPr/>
          </p:nvSpPr>
          <p:spPr>
            <a:xfrm>
              <a:off x="0" y="-85725"/>
              <a:ext cx="5334000" cy="2044034"/>
            </a:xfrm>
            <a:prstGeom prst="rect">
              <a:avLst/>
            </a:prstGeom>
          </p:spPr>
          <p:txBody>
            <a:bodyPr anchor="t" rtlCol="false" tIns="0" lIns="0" bIns="0" rIns="0"/>
            <a:lstStyle/>
            <a:p>
              <a:pPr algn="l">
                <a:lnSpc>
                  <a:spcPts val="3564"/>
                </a:lnSpc>
              </a:pPr>
              <a:r>
                <a:rPr lang="en-US" sz="2700">
                  <a:solidFill>
                    <a:srgbClr val="000000"/>
                  </a:solidFill>
                  <a:latin typeface="Arial"/>
                  <a:ea typeface="Arial"/>
                  <a:cs typeface="Arial"/>
                  <a:sym typeface="Arial"/>
                </a:rPr>
                <a:t>Chakrika Gurrala</a:t>
              </a:r>
            </a:p>
            <a:p>
              <a:pPr algn="l">
                <a:lnSpc>
                  <a:spcPts val="3564"/>
                </a:lnSpc>
              </a:pPr>
              <a:r>
                <a:rPr lang="en-US" sz="2700">
                  <a:solidFill>
                    <a:srgbClr val="000000"/>
                  </a:solidFill>
                  <a:latin typeface="Arial"/>
                  <a:ea typeface="Arial"/>
                  <a:cs typeface="Arial"/>
                  <a:sym typeface="Arial"/>
                </a:rPr>
                <a:t>Suvarna Kancharapu</a:t>
              </a:r>
            </a:p>
            <a:p>
              <a:pPr algn="l">
                <a:lnSpc>
                  <a:spcPts val="3564"/>
                </a:lnSpc>
              </a:pPr>
              <a:r>
                <a:rPr lang="en-US" sz="2700">
                  <a:solidFill>
                    <a:srgbClr val="000000"/>
                  </a:solidFill>
                  <a:latin typeface="Arial"/>
                  <a:ea typeface="Arial"/>
                  <a:cs typeface="Arial"/>
                  <a:sym typeface="Arial"/>
                </a:rPr>
                <a:t>Likitha Majji </a:t>
              </a:r>
            </a:p>
          </p:txBody>
        </p:sp>
      </p:grpSp>
      <p:grpSp>
        <p:nvGrpSpPr>
          <p:cNvPr name="Group 18" id="18"/>
          <p:cNvGrpSpPr/>
          <p:nvPr/>
        </p:nvGrpSpPr>
        <p:grpSpPr>
          <a:xfrm rot="0">
            <a:off x="10845191" y="1387994"/>
            <a:ext cx="3900036" cy="1148503"/>
            <a:chOff x="0" y="0"/>
            <a:chExt cx="5200048" cy="1531338"/>
          </a:xfrm>
        </p:grpSpPr>
        <p:sp>
          <p:nvSpPr>
            <p:cNvPr name="Freeform 19" id="19"/>
            <p:cNvSpPr/>
            <p:nvPr/>
          </p:nvSpPr>
          <p:spPr>
            <a:xfrm flipH="false" flipV="false" rot="0">
              <a:off x="0" y="0"/>
              <a:ext cx="5200048" cy="1531338"/>
            </a:xfrm>
            <a:custGeom>
              <a:avLst/>
              <a:gdLst/>
              <a:ahLst/>
              <a:cxnLst/>
              <a:rect r="r" b="b" t="t" l="l"/>
              <a:pathLst>
                <a:path h="1531338" w="5200048">
                  <a:moveTo>
                    <a:pt x="0" y="0"/>
                  </a:moveTo>
                  <a:lnTo>
                    <a:pt x="5200048" y="0"/>
                  </a:lnTo>
                  <a:lnTo>
                    <a:pt x="5200048" y="1531338"/>
                  </a:lnTo>
                  <a:lnTo>
                    <a:pt x="0" y="1531338"/>
                  </a:lnTo>
                  <a:close/>
                </a:path>
              </a:pathLst>
            </a:custGeom>
            <a:solidFill>
              <a:srgbClr val="000000">
                <a:alpha val="0"/>
              </a:srgbClr>
            </a:solidFill>
          </p:spPr>
        </p:sp>
        <p:sp>
          <p:nvSpPr>
            <p:cNvPr name="TextBox 20" id="20"/>
            <p:cNvSpPr txBox="true"/>
            <p:nvPr/>
          </p:nvSpPr>
          <p:spPr>
            <a:xfrm>
              <a:off x="0" y="-190500"/>
              <a:ext cx="5200048" cy="1721838"/>
            </a:xfrm>
            <a:prstGeom prst="rect">
              <a:avLst/>
            </a:prstGeom>
          </p:spPr>
          <p:txBody>
            <a:bodyPr anchor="t" rtlCol="false" tIns="0" lIns="0" bIns="0" rIns="0"/>
            <a:lstStyle/>
            <a:p>
              <a:pPr algn="ctr">
                <a:lnSpc>
                  <a:spcPts val="8183"/>
                </a:lnSpc>
              </a:pPr>
              <a:r>
                <a:rPr lang="en-US" sz="6199" b="true">
                  <a:solidFill>
                    <a:srgbClr val="000000"/>
                  </a:solidFill>
                  <a:latin typeface="Arial Bold"/>
                  <a:ea typeface="Arial Bold"/>
                  <a:cs typeface="Arial Bold"/>
                  <a:sym typeface="Arial Bold"/>
                </a:rPr>
                <a:t>HealthQ</a:t>
              </a:r>
            </a:p>
          </p:txBody>
        </p:sp>
      </p:grpSp>
      <p:sp>
        <p:nvSpPr>
          <p:cNvPr name="TextBox 21" id="21"/>
          <p:cNvSpPr txBox="true"/>
          <p:nvPr/>
        </p:nvSpPr>
        <p:spPr>
          <a:xfrm rot="0">
            <a:off x="7526760" y="8640313"/>
            <a:ext cx="8282230" cy="492274"/>
          </a:xfrm>
          <a:prstGeom prst="rect">
            <a:avLst/>
          </a:prstGeom>
        </p:spPr>
        <p:txBody>
          <a:bodyPr anchor="t" rtlCol="false" tIns="0" lIns="0" bIns="0" rIns="0">
            <a:spAutoFit/>
          </a:bodyPr>
          <a:lstStyle/>
          <a:p>
            <a:pPr algn="ctr">
              <a:lnSpc>
                <a:spcPts val="3564"/>
              </a:lnSpc>
              <a:spcBef>
                <a:spcPct val="0"/>
              </a:spcBef>
            </a:pPr>
            <a:r>
              <a:rPr lang="en-US" b="true" sz="2700">
                <a:solidFill>
                  <a:srgbClr val="000000"/>
                </a:solidFill>
                <a:latin typeface="Arial Bold"/>
                <a:ea typeface="Arial Bold"/>
                <a:cs typeface="Arial Bold"/>
                <a:sym typeface="Arial Bold"/>
              </a:rPr>
              <a:t>Git Hub:</a:t>
            </a:r>
            <a:r>
              <a:rPr lang="en-US" b="true" sz="2700" u="sng">
                <a:solidFill>
                  <a:srgbClr val="000000"/>
                </a:solidFill>
                <a:latin typeface="Arial Bold"/>
                <a:ea typeface="Arial Bold"/>
                <a:cs typeface="Arial Bold"/>
                <a:sym typeface="Arial Bold"/>
                <a:hlinkClick r:id="rId4" tooltip="https://github.com/Suvarna112/HealthQ.git"/>
              </a:rPr>
              <a:t>https://github.com/Suvarna112/HealthQ.git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23852" y="6079821"/>
            <a:ext cx="6070895" cy="6356958"/>
            <a:chOff x="0" y="0"/>
            <a:chExt cx="8094527" cy="8475944"/>
          </a:xfrm>
        </p:grpSpPr>
        <p:sp>
          <p:nvSpPr>
            <p:cNvPr name="Freeform 3" id="3"/>
            <p:cNvSpPr/>
            <p:nvPr/>
          </p:nvSpPr>
          <p:spPr>
            <a:xfrm flipH="false" flipV="false" rot="0">
              <a:off x="0" y="0"/>
              <a:ext cx="8094472" cy="8475980"/>
            </a:xfrm>
            <a:custGeom>
              <a:avLst/>
              <a:gdLst/>
              <a:ahLst/>
              <a:cxnLst/>
              <a:rect r="r" b="b" t="t" l="l"/>
              <a:pathLst>
                <a:path h="8475980" w="8094472">
                  <a:moveTo>
                    <a:pt x="0" y="0"/>
                  </a:moveTo>
                  <a:lnTo>
                    <a:pt x="8094472" y="0"/>
                  </a:lnTo>
                  <a:lnTo>
                    <a:pt x="8094472" y="8475980"/>
                  </a:lnTo>
                  <a:lnTo>
                    <a:pt x="0" y="8475980"/>
                  </a:lnTo>
                  <a:lnTo>
                    <a:pt x="0" y="0"/>
                  </a:lnTo>
                  <a:close/>
                </a:path>
              </a:pathLst>
            </a:custGeom>
            <a:blipFill>
              <a:blip r:embed="rId2"/>
              <a:stretch>
                <a:fillRect l="0" t="-40" r="0" b="-40"/>
              </a:stretch>
            </a:blipFill>
          </p:spPr>
        </p:sp>
      </p:grpSp>
      <p:grpSp>
        <p:nvGrpSpPr>
          <p:cNvPr name="Group 4" id="4"/>
          <p:cNvGrpSpPr/>
          <p:nvPr/>
        </p:nvGrpSpPr>
        <p:grpSpPr>
          <a:xfrm rot="0">
            <a:off x="-2181019" y="-2524561"/>
            <a:ext cx="6419437" cy="6339194"/>
            <a:chOff x="0" y="0"/>
            <a:chExt cx="8559249" cy="8452259"/>
          </a:xfrm>
        </p:grpSpPr>
        <p:sp>
          <p:nvSpPr>
            <p:cNvPr name="Freeform 5" id="5"/>
            <p:cNvSpPr/>
            <p:nvPr/>
          </p:nvSpPr>
          <p:spPr>
            <a:xfrm flipH="false" flipV="false" rot="0">
              <a:off x="0" y="0"/>
              <a:ext cx="8559292" cy="8452231"/>
            </a:xfrm>
            <a:custGeom>
              <a:avLst/>
              <a:gdLst/>
              <a:ahLst/>
              <a:cxnLst/>
              <a:rect r="r" b="b" t="t" l="l"/>
              <a:pathLst>
                <a:path h="8452231" w="8559292">
                  <a:moveTo>
                    <a:pt x="0" y="0"/>
                  </a:moveTo>
                  <a:lnTo>
                    <a:pt x="8559292" y="0"/>
                  </a:lnTo>
                  <a:lnTo>
                    <a:pt x="8559292" y="8452231"/>
                  </a:lnTo>
                  <a:lnTo>
                    <a:pt x="0" y="8452231"/>
                  </a:lnTo>
                  <a:lnTo>
                    <a:pt x="0" y="0"/>
                  </a:lnTo>
                  <a:close/>
                </a:path>
              </a:pathLst>
            </a:custGeom>
            <a:blipFill>
              <a:blip r:embed="rId3"/>
              <a:stretch>
                <a:fillRect l="0" t="-33" r="0" b="-34"/>
              </a:stretch>
            </a:blipFill>
          </p:spPr>
        </p:sp>
      </p:grpSp>
      <p:grpSp>
        <p:nvGrpSpPr>
          <p:cNvPr name="Group 6" id="6"/>
          <p:cNvGrpSpPr/>
          <p:nvPr/>
        </p:nvGrpSpPr>
        <p:grpSpPr>
          <a:xfrm rot="0">
            <a:off x="5870058" y="1852367"/>
            <a:ext cx="6109097" cy="748137"/>
            <a:chOff x="0" y="0"/>
            <a:chExt cx="8145463" cy="997516"/>
          </a:xfrm>
        </p:grpSpPr>
        <p:sp>
          <p:nvSpPr>
            <p:cNvPr name="Freeform 7" id="7"/>
            <p:cNvSpPr/>
            <p:nvPr/>
          </p:nvSpPr>
          <p:spPr>
            <a:xfrm flipH="false" flipV="false" rot="0">
              <a:off x="0" y="0"/>
              <a:ext cx="8145462" cy="997516"/>
            </a:xfrm>
            <a:custGeom>
              <a:avLst/>
              <a:gdLst/>
              <a:ahLst/>
              <a:cxnLst/>
              <a:rect r="r" b="b" t="t" l="l"/>
              <a:pathLst>
                <a:path h="997516" w="8145462">
                  <a:moveTo>
                    <a:pt x="0" y="0"/>
                  </a:moveTo>
                  <a:lnTo>
                    <a:pt x="8145462" y="0"/>
                  </a:lnTo>
                  <a:lnTo>
                    <a:pt x="8145462" y="997516"/>
                  </a:lnTo>
                  <a:lnTo>
                    <a:pt x="0" y="997516"/>
                  </a:lnTo>
                  <a:close/>
                </a:path>
              </a:pathLst>
            </a:custGeom>
            <a:solidFill>
              <a:srgbClr val="000000">
                <a:alpha val="0"/>
              </a:srgbClr>
            </a:solidFill>
          </p:spPr>
        </p:sp>
        <p:sp>
          <p:nvSpPr>
            <p:cNvPr name="TextBox 8" id="8"/>
            <p:cNvSpPr txBox="true"/>
            <p:nvPr/>
          </p:nvSpPr>
          <p:spPr>
            <a:xfrm>
              <a:off x="0" y="-123825"/>
              <a:ext cx="8145463" cy="1121341"/>
            </a:xfrm>
            <a:prstGeom prst="rect">
              <a:avLst/>
            </a:prstGeom>
          </p:spPr>
          <p:txBody>
            <a:bodyPr anchor="t" rtlCol="false" tIns="0" lIns="0" bIns="0" rIns="0"/>
            <a:lstStyle/>
            <a:p>
              <a:pPr algn="ctr">
                <a:lnSpc>
                  <a:spcPts val="5148"/>
                </a:lnSpc>
              </a:pPr>
              <a:r>
                <a:rPr lang="en-US" sz="3899" b="true">
                  <a:solidFill>
                    <a:srgbClr val="000000"/>
                  </a:solidFill>
                  <a:latin typeface="Arial Bold"/>
                  <a:ea typeface="Arial Bold"/>
                  <a:cs typeface="Arial Bold"/>
                  <a:sym typeface="Arial Bold"/>
                </a:rPr>
                <a:t>Problem Statement</a:t>
              </a:r>
            </a:p>
          </p:txBody>
        </p:sp>
      </p:grpSp>
      <p:grpSp>
        <p:nvGrpSpPr>
          <p:cNvPr name="Group 9" id="9"/>
          <p:cNvGrpSpPr/>
          <p:nvPr/>
        </p:nvGrpSpPr>
        <p:grpSpPr>
          <a:xfrm rot="0">
            <a:off x="658181" y="3138488"/>
            <a:ext cx="10556682" cy="6667320"/>
            <a:chOff x="0" y="0"/>
            <a:chExt cx="14075576" cy="8889760"/>
          </a:xfrm>
        </p:grpSpPr>
        <p:sp>
          <p:nvSpPr>
            <p:cNvPr name="Freeform 10" id="10"/>
            <p:cNvSpPr/>
            <p:nvPr/>
          </p:nvSpPr>
          <p:spPr>
            <a:xfrm flipH="false" flipV="false" rot="0">
              <a:off x="0" y="0"/>
              <a:ext cx="14075577" cy="8889760"/>
            </a:xfrm>
            <a:custGeom>
              <a:avLst/>
              <a:gdLst/>
              <a:ahLst/>
              <a:cxnLst/>
              <a:rect r="r" b="b" t="t" l="l"/>
              <a:pathLst>
                <a:path h="8889760" w="14075577">
                  <a:moveTo>
                    <a:pt x="0" y="0"/>
                  </a:moveTo>
                  <a:lnTo>
                    <a:pt x="14075577" y="0"/>
                  </a:lnTo>
                  <a:lnTo>
                    <a:pt x="14075577" y="8889760"/>
                  </a:lnTo>
                  <a:lnTo>
                    <a:pt x="0" y="8889760"/>
                  </a:lnTo>
                  <a:close/>
                </a:path>
              </a:pathLst>
            </a:custGeom>
            <a:solidFill>
              <a:srgbClr val="000000">
                <a:alpha val="0"/>
              </a:srgbClr>
            </a:solidFill>
          </p:spPr>
        </p:sp>
        <p:sp>
          <p:nvSpPr>
            <p:cNvPr name="TextBox 11" id="11"/>
            <p:cNvSpPr txBox="true"/>
            <p:nvPr/>
          </p:nvSpPr>
          <p:spPr>
            <a:xfrm>
              <a:off x="0" y="-57150"/>
              <a:ext cx="14075576" cy="8946910"/>
            </a:xfrm>
            <a:prstGeom prst="rect">
              <a:avLst/>
            </a:prstGeom>
          </p:spPr>
          <p:txBody>
            <a:bodyPr anchor="t" rtlCol="false" tIns="0" lIns="0" bIns="0" rIns="0"/>
            <a:lstStyle/>
            <a:p>
              <a:pPr algn="just">
                <a:lnSpc>
                  <a:spcPts val="3480"/>
                </a:lnSpc>
              </a:pPr>
              <a:r>
                <a:rPr lang="en-US" sz="2899" b="true">
                  <a:solidFill>
                    <a:srgbClr val="000000"/>
                  </a:solidFill>
                  <a:latin typeface="Arial Bold"/>
                  <a:ea typeface="Arial Bold"/>
                  <a:cs typeface="Arial Bold"/>
                  <a:sym typeface="Arial Bold"/>
                </a:rPr>
                <a:t>Problem Statement: </a:t>
              </a:r>
              <a:r>
                <a:rPr lang="en-US" sz="2899">
                  <a:solidFill>
                    <a:srgbClr val="000000"/>
                  </a:solidFill>
                  <a:latin typeface="Arial"/>
                  <a:ea typeface="Arial"/>
                  <a:cs typeface="Arial"/>
                  <a:sym typeface="Arial"/>
                </a:rPr>
                <a:t>Title Optimizing Doctor Availability and Appointment Allocation in Hospitals through Digital Technology and AI Integration. </a:t>
              </a:r>
            </a:p>
            <a:p>
              <a:pPr algn="just">
                <a:lnSpc>
                  <a:spcPts val="3480"/>
                </a:lnSpc>
              </a:pPr>
            </a:p>
            <a:p>
              <a:pPr algn="just">
                <a:lnSpc>
                  <a:spcPts val="3480"/>
                </a:lnSpc>
              </a:pPr>
              <a:r>
                <a:rPr lang="en-US" sz="2899" b="true">
                  <a:solidFill>
                    <a:srgbClr val="000000"/>
                  </a:solidFill>
                  <a:latin typeface="Arial Bold"/>
                  <a:ea typeface="Arial Bold"/>
                  <a:cs typeface="Arial Bold"/>
                  <a:sym typeface="Arial Bold"/>
                </a:rPr>
                <a:t>Description: </a:t>
              </a:r>
              <a:r>
                <a:rPr lang="en-US" sz="2899">
                  <a:solidFill>
                    <a:srgbClr val="000000"/>
                  </a:solidFill>
                  <a:latin typeface="Arial"/>
                  <a:ea typeface="Arial"/>
                  <a:cs typeface="Arial"/>
                  <a:sym typeface="Arial"/>
                </a:rPr>
                <a:t>Optimizing Doctor Availability and Appointment Allocation in hospitals through Digital Technology and AI Integration aims to address inefficiencies in healthcare systems, particularly the long waiting times and mismatched doctor-patient schedules. In many healthcare facilities, patient appointments are often poorly managed, leading to overcrowding, underutilized resources, and frustrated patients. AI and digital tools can help streamline these processes by intelligently matching patient needs with doctor availability. Department Department of Medical Health &amp; Family Welfare Sector Health</a:t>
              </a:r>
            </a:p>
          </p:txBody>
        </p:sp>
      </p:grpSp>
      <p:sp>
        <p:nvSpPr>
          <p:cNvPr name="Freeform 12" id="12"/>
          <p:cNvSpPr/>
          <p:nvPr/>
        </p:nvSpPr>
        <p:spPr>
          <a:xfrm flipH="false" flipV="false" rot="0">
            <a:off x="11574446" y="3224212"/>
            <a:ext cx="6221766" cy="5919323"/>
          </a:xfrm>
          <a:custGeom>
            <a:avLst/>
            <a:gdLst/>
            <a:ahLst/>
            <a:cxnLst/>
            <a:rect r="r" b="b" t="t" l="l"/>
            <a:pathLst>
              <a:path h="5919323" w="6221766">
                <a:moveTo>
                  <a:pt x="0" y="0"/>
                </a:moveTo>
                <a:lnTo>
                  <a:pt x="6221766" y="0"/>
                </a:lnTo>
                <a:lnTo>
                  <a:pt x="6221766" y="5919324"/>
                </a:lnTo>
                <a:lnTo>
                  <a:pt x="0" y="5919324"/>
                </a:lnTo>
                <a:lnTo>
                  <a:pt x="0" y="0"/>
                </a:lnTo>
                <a:close/>
              </a:path>
            </a:pathLst>
          </a:custGeom>
          <a:blipFill>
            <a:blip r:embed="rId4"/>
            <a:stretch>
              <a:fillRect l="-23137" t="0" r="-23137" b="-12813"/>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43162" y="-2992519"/>
            <a:ext cx="6419437" cy="6339194"/>
            <a:chOff x="0" y="0"/>
            <a:chExt cx="8559249" cy="8452259"/>
          </a:xfrm>
        </p:grpSpPr>
        <p:sp>
          <p:nvSpPr>
            <p:cNvPr name="Freeform 3" id="3"/>
            <p:cNvSpPr/>
            <p:nvPr/>
          </p:nvSpPr>
          <p:spPr>
            <a:xfrm flipH="false" flipV="false" rot="0">
              <a:off x="0" y="0"/>
              <a:ext cx="8559292" cy="8452231"/>
            </a:xfrm>
            <a:custGeom>
              <a:avLst/>
              <a:gdLst/>
              <a:ahLst/>
              <a:cxnLst/>
              <a:rect r="r" b="b" t="t" l="l"/>
              <a:pathLst>
                <a:path h="8452231" w="8559292">
                  <a:moveTo>
                    <a:pt x="0" y="0"/>
                  </a:moveTo>
                  <a:lnTo>
                    <a:pt x="8559292" y="0"/>
                  </a:lnTo>
                  <a:lnTo>
                    <a:pt x="8559292" y="8452231"/>
                  </a:lnTo>
                  <a:lnTo>
                    <a:pt x="0" y="8452231"/>
                  </a:lnTo>
                  <a:lnTo>
                    <a:pt x="0" y="0"/>
                  </a:lnTo>
                  <a:close/>
                </a:path>
              </a:pathLst>
            </a:custGeom>
            <a:blipFill>
              <a:blip r:embed="rId2"/>
              <a:stretch>
                <a:fillRect l="0" t="-33" r="0" b="-34"/>
              </a:stretch>
            </a:blipFill>
          </p:spPr>
        </p:sp>
      </p:grpSp>
      <p:grpSp>
        <p:nvGrpSpPr>
          <p:cNvPr name="Group 4" id="4"/>
          <p:cNvGrpSpPr/>
          <p:nvPr/>
        </p:nvGrpSpPr>
        <p:grpSpPr>
          <a:xfrm rot="0">
            <a:off x="14223852" y="6279766"/>
            <a:ext cx="6070895" cy="6356958"/>
            <a:chOff x="0" y="0"/>
            <a:chExt cx="8094527" cy="8475944"/>
          </a:xfrm>
        </p:grpSpPr>
        <p:sp>
          <p:nvSpPr>
            <p:cNvPr name="Freeform 5" id="5"/>
            <p:cNvSpPr/>
            <p:nvPr/>
          </p:nvSpPr>
          <p:spPr>
            <a:xfrm flipH="false" flipV="false" rot="0">
              <a:off x="0" y="0"/>
              <a:ext cx="8094472" cy="8475980"/>
            </a:xfrm>
            <a:custGeom>
              <a:avLst/>
              <a:gdLst/>
              <a:ahLst/>
              <a:cxnLst/>
              <a:rect r="r" b="b" t="t" l="l"/>
              <a:pathLst>
                <a:path h="8475980" w="8094472">
                  <a:moveTo>
                    <a:pt x="0" y="0"/>
                  </a:moveTo>
                  <a:lnTo>
                    <a:pt x="8094472" y="0"/>
                  </a:lnTo>
                  <a:lnTo>
                    <a:pt x="8094472" y="8475980"/>
                  </a:lnTo>
                  <a:lnTo>
                    <a:pt x="0" y="8475980"/>
                  </a:lnTo>
                  <a:lnTo>
                    <a:pt x="0" y="0"/>
                  </a:lnTo>
                  <a:close/>
                </a:path>
              </a:pathLst>
            </a:custGeom>
            <a:blipFill>
              <a:blip r:embed="rId3"/>
              <a:stretch>
                <a:fillRect l="0" t="-40" r="0" b="-40"/>
              </a:stretch>
            </a:blipFill>
          </p:spPr>
        </p:sp>
      </p:grpSp>
      <p:grpSp>
        <p:nvGrpSpPr>
          <p:cNvPr name="Group 6" id="6"/>
          <p:cNvGrpSpPr/>
          <p:nvPr/>
        </p:nvGrpSpPr>
        <p:grpSpPr>
          <a:xfrm rot="0">
            <a:off x="7893835" y="1345889"/>
            <a:ext cx="2500330" cy="1106805"/>
            <a:chOff x="0" y="0"/>
            <a:chExt cx="3147695" cy="1393370"/>
          </a:xfrm>
        </p:grpSpPr>
        <p:sp>
          <p:nvSpPr>
            <p:cNvPr name="Freeform 7" id="7"/>
            <p:cNvSpPr/>
            <p:nvPr/>
          </p:nvSpPr>
          <p:spPr>
            <a:xfrm flipH="false" flipV="false" rot="0">
              <a:off x="0" y="0"/>
              <a:ext cx="3147695" cy="1393370"/>
            </a:xfrm>
            <a:custGeom>
              <a:avLst/>
              <a:gdLst/>
              <a:ahLst/>
              <a:cxnLst/>
              <a:rect r="r" b="b" t="t" l="l"/>
              <a:pathLst>
                <a:path h="1393370" w="3147695">
                  <a:moveTo>
                    <a:pt x="0" y="0"/>
                  </a:moveTo>
                  <a:lnTo>
                    <a:pt x="3147695" y="0"/>
                  </a:lnTo>
                  <a:lnTo>
                    <a:pt x="3147695" y="1393370"/>
                  </a:lnTo>
                  <a:lnTo>
                    <a:pt x="0" y="1393370"/>
                  </a:lnTo>
                  <a:close/>
                </a:path>
              </a:pathLst>
            </a:custGeom>
            <a:solidFill>
              <a:srgbClr val="000000">
                <a:alpha val="0"/>
              </a:srgbClr>
            </a:solidFill>
          </p:spPr>
        </p:sp>
        <p:sp>
          <p:nvSpPr>
            <p:cNvPr name="TextBox 8" id="8"/>
            <p:cNvSpPr txBox="true"/>
            <p:nvPr/>
          </p:nvSpPr>
          <p:spPr>
            <a:xfrm>
              <a:off x="0" y="-190500"/>
              <a:ext cx="3147695" cy="1583870"/>
            </a:xfrm>
            <a:prstGeom prst="rect">
              <a:avLst/>
            </a:prstGeom>
          </p:spPr>
          <p:txBody>
            <a:bodyPr anchor="t" rtlCol="false" tIns="0" lIns="0" bIns="0" rIns="0"/>
            <a:lstStyle/>
            <a:p>
              <a:pPr algn="ctr">
                <a:lnSpc>
                  <a:spcPts val="7920"/>
                </a:lnSpc>
              </a:pPr>
              <a:r>
                <a:rPr lang="en-US" sz="6000" b="true">
                  <a:solidFill>
                    <a:srgbClr val="000000"/>
                  </a:solidFill>
                  <a:latin typeface="Arial Bold"/>
                  <a:ea typeface="Arial Bold"/>
                  <a:cs typeface="Arial Bold"/>
                  <a:sym typeface="Arial Bold"/>
                </a:rPr>
                <a:t>WHY </a:t>
              </a:r>
              <a:r>
                <a:rPr lang="en-US" sz="6000" b="true">
                  <a:solidFill>
                    <a:srgbClr val="000000"/>
                  </a:solidFill>
                  <a:latin typeface="Arial Bold"/>
                  <a:ea typeface="Arial Bold"/>
                  <a:cs typeface="Arial Bold"/>
                  <a:sym typeface="Arial Bold"/>
                </a:rPr>
                <a:t>?</a:t>
              </a:r>
            </a:p>
          </p:txBody>
        </p:sp>
      </p:grpSp>
      <p:grpSp>
        <p:nvGrpSpPr>
          <p:cNvPr name="Group 9" id="9"/>
          <p:cNvGrpSpPr/>
          <p:nvPr/>
        </p:nvGrpSpPr>
        <p:grpSpPr>
          <a:xfrm rot="0">
            <a:off x="828456" y="3299050"/>
            <a:ext cx="9839683" cy="1364698"/>
            <a:chOff x="0" y="0"/>
            <a:chExt cx="13119578" cy="1819597"/>
          </a:xfrm>
        </p:grpSpPr>
        <p:sp>
          <p:nvSpPr>
            <p:cNvPr name="Freeform 10" id="10"/>
            <p:cNvSpPr/>
            <p:nvPr/>
          </p:nvSpPr>
          <p:spPr>
            <a:xfrm flipH="false" flipV="false" rot="0">
              <a:off x="0" y="0"/>
              <a:ext cx="13119577" cy="1819597"/>
            </a:xfrm>
            <a:custGeom>
              <a:avLst/>
              <a:gdLst/>
              <a:ahLst/>
              <a:cxnLst/>
              <a:rect r="r" b="b" t="t" l="l"/>
              <a:pathLst>
                <a:path h="1819597" w="13119577">
                  <a:moveTo>
                    <a:pt x="0" y="0"/>
                  </a:moveTo>
                  <a:lnTo>
                    <a:pt x="13119577" y="0"/>
                  </a:lnTo>
                  <a:lnTo>
                    <a:pt x="13119577" y="1819597"/>
                  </a:lnTo>
                  <a:lnTo>
                    <a:pt x="0" y="1819597"/>
                  </a:lnTo>
                  <a:close/>
                </a:path>
              </a:pathLst>
            </a:custGeom>
            <a:solidFill>
              <a:srgbClr val="000000">
                <a:alpha val="0"/>
              </a:srgbClr>
            </a:solidFill>
          </p:spPr>
        </p:sp>
        <p:sp>
          <p:nvSpPr>
            <p:cNvPr name="TextBox 11" id="11"/>
            <p:cNvSpPr txBox="true"/>
            <p:nvPr/>
          </p:nvSpPr>
          <p:spPr>
            <a:xfrm>
              <a:off x="0" y="-123825"/>
              <a:ext cx="13119578" cy="1943422"/>
            </a:xfrm>
            <a:prstGeom prst="rect">
              <a:avLst/>
            </a:prstGeom>
          </p:spPr>
          <p:txBody>
            <a:bodyPr anchor="t" rtlCol="false" tIns="0" lIns="0" bIns="0" rIns="0"/>
            <a:lstStyle/>
            <a:p>
              <a:pPr algn="ctr">
                <a:lnSpc>
                  <a:spcPts val="5148"/>
                </a:lnSpc>
              </a:pPr>
              <a:r>
                <a:rPr lang="en-US" b="true" sz="3900" u="sng">
                  <a:solidFill>
                    <a:srgbClr val="000000"/>
                  </a:solidFill>
                  <a:latin typeface="Arial Bold"/>
                  <a:ea typeface="Arial Bold"/>
                  <a:cs typeface="Arial Bold"/>
                  <a:sym typeface="Arial Bold"/>
                </a:rPr>
                <a:t>why do people neglect meeting doctors</a:t>
              </a:r>
            </a:p>
            <a:p>
              <a:pPr algn="ctr">
                <a:lnSpc>
                  <a:spcPts val="5148"/>
                </a:lnSpc>
              </a:pPr>
            </a:p>
          </p:txBody>
        </p:sp>
      </p:grpSp>
      <p:grpSp>
        <p:nvGrpSpPr>
          <p:cNvPr name="Group 12" id="12"/>
          <p:cNvGrpSpPr/>
          <p:nvPr/>
        </p:nvGrpSpPr>
        <p:grpSpPr>
          <a:xfrm rot="0">
            <a:off x="895131" y="4375033"/>
            <a:ext cx="7395087" cy="4423120"/>
            <a:chOff x="0" y="0"/>
            <a:chExt cx="9860116" cy="5897493"/>
          </a:xfrm>
        </p:grpSpPr>
        <p:sp>
          <p:nvSpPr>
            <p:cNvPr name="Freeform 13" id="13"/>
            <p:cNvSpPr/>
            <p:nvPr/>
          </p:nvSpPr>
          <p:spPr>
            <a:xfrm flipH="false" flipV="false" rot="0">
              <a:off x="0" y="0"/>
              <a:ext cx="9860116" cy="5897493"/>
            </a:xfrm>
            <a:custGeom>
              <a:avLst/>
              <a:gdLst/>
              <a:ahLst/>
              <a:cxnLst/>
              <a:rect r="r" b="b" t="t" l="l"/>
              <a:pathLst>
                <a:path h="5897493" w="9860116">
                  <a:moveTo>
                    <a:pt x="0" y="0"/>
                  </a:moveTo>
                  <a:lnTo>
                    <a:pt x="9860116" y="0"/>
                  </a:lnTo>
                  <a:lnTo>
                    <a:pt x="9860116" y="5897493"/>
                  </a:lnTo>
                  <a:lnTo>
                    <a:pt x="0" y="5897493"/>
                  </a:lnTo>
                  <a:close/>
                </a:path>
              </a:pathLst>
            </a:custGeom>
            <a:solidFill>
              <a:srgbClr val="000000">
                <a:alpha val="0"/>
              </a:srgbClr>
            </a:solidFill>
          </p:spPr>
        </p:sp>
        <p:sp>
          <p:nvSpPr>
            <p:cNvPr name="TextBox 14" id="14"/>
            <p:cNvSpPr txBox="true"/>
            <p:nvPr/>
          </p:nvSpPr>
          <p:spPr>
            <a:xfrm>
              <a:off x="0" y="-95250"/>
              <a:ext cx="9860116" cy="5992743"/>
            </a:xfrm>
            <a:prstGeom prst="rect">
              <a:avLst/>
            </a:prstGeom>
          </p:spPr>
          <p:txBody>
            <a:bodyPr anchor="t" rtlCol="false" tIns="0" lIns="0" bIns="0" rIns="0"/>
            <a:lstStyle/>
            <a:p>
              <a:pPr algn="l" marL="662994" indent="-220998" lvl="2">
                <a:lnSpc>
                  <a:spcPts val="3828"/>
                </a:lnSpc>
                <a:buFont typeface="Arial"/>
                <a:buChar char="⚬"/>
              </a:pPr>
              <a:r>
                <a:rPr lang="en-US" sz="2900">
                  <a:solidFill>
                    <a:srgbClr val="000000"/>
                  </a:solidFill>
                  <a:latin typeface="Arial"/>
                  <a:ea typeface="Arial"/>
                  <a:cs typeface="Arial"/>
                  <a:sym typeface="Arial"/>
                </a:rPr>
                <a:t>Patients waiting for long hours for consultations</a:t>
              </a:r>
            </a:p>
            <a:p>
              <a:pPr algn="l" marL="662994" indent="-220998" lvl="2">
                <a:lnSpc>
                  <a:spcPts val="3828"/>
                </a:lnSpc>
                <a:buFont typeface="Arial"/>
                <a:buChar char="⚬"/>
              </a:pPr>
              <a:r>
                <a:rPr lang="en-US" sz="2900">
                  <a:solidFill>
                    <a:srgbClr val="000000"/>
                  </a:solidFill>
                  <a:latin typeface="Arial"/>
                  <a:ea typeface="Arial"/>
                  <a:cs typeface="Arial"/>
                  <a:sym typeface="Arial"/>
                </a:rPr>
                <a:t>Old people always cannot come to the hospital due to their health conditions </a:t>
              </a:r>
            </a:p>
            <a:p>
              <a:pPr algn="l" marL="662994" indent="-220998" lvl="2">
                <a:lnSpc>
                  <a:spcPts val="3828"/>
                </a:lnSpc>
                <a:buFont typeface="Arial"/>
                <a:buChar char="⚬"/>
              </a:pPr>
              <a:r>
                <a:rPr lang="en-US" sz="2900">
                  <a:solidFill>
                    <a:srgbClr val="000000"/>
                  </a:solidFill>
                  <a:latin typeface="Arial"/>
                  <a:ea typeface="Arial"/>
                  <a:cs typeface="Arial"/>
                  <a:sym typeface="Arial"/>
                </a:rPr>
                <a:t>Overcrowded hospitals due to poor time management, increasing infection risks</a:t>
              </a:r>
            </a:p>
            <a:p>
              <a:pPr algn="l" marL="662994" indent="-220998" lvl="2">
                <a:lnSpc>
                  <a:spcPts val="3828"/>
                </a:lnSpc>
                <a:buFont typeface="Arial"/>
                <a:buChar char="⚬"/>
              </a:pPr>
              <a:r>
                <a:rPr lang="en-US" sz="2900">
                  <a:solidFill>
                    <a:srgbClr val="000000"/>
                  </a:solidFill>
                  <a:latin typeface="Arial"/>
                  <a:ea typeface="Arial"/>
                  <a:cs typeface="Arial"/>
                  <a:sym typeface="Arial"/>
                </a:rPr>
                <a:t>Emergency cases stuggling to get immediate attention due to rigid booking systems</a:t>
              </a:r>
            </a:p>
          </p:txBody>
        </p:sp>
      </p:grpSp>
      <p:sp>
        <p:nvSpPr>
          <p:cNvPr name="Freeform 15" id="15"/>
          <p:cNvSpPr/>
          <p:nvPr/>
        </p:nvSpPr>
        <p:spPr>
          <a:xfrm flipH="false" flipV="false" rot="0">
            <a:off x="10668139" y="3002997"/>
            <a:ext cx="7159132" cy="6080905"/>
          </a:xfrm>
          <a:custGeom>
            <a:avLst/>
            <a:gdLst/>
            <a:ahLst/>
            <a:cxnLst/>
            <a:rect r="r" b="b" t="t" l="l"/>
            <a:pathLst>
              <a:path h="6080905" w="7159132">
                <a:moveTo>
                  <a:pt x="0" y="0"/>
                </a:moveTo>
                <a:lnTo>
                  <a:pt x="7159133" y="0"/>
                </a:lnTo>
                <a:lnTo>
                  <a:pt x="7159133" y="6080905"/>
                </a:lnTo>
                <a:lnTo>
                  <a:pt x="0" y="6080905"/>
                </a:lnTo>
                <a:lnTo>
                  <a:pt x="0" y="0"/>
                </a:lnTo>
                <a:close/>
              </a:path>
            </a:pathLst>
          </a:custGeom>
          <a:blipFill>
            <a:blip r:embed="rId4"/>
            <a:stretch>
              <a:fillRect l="0" t="-1009" r="-57857" b="-353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318" y="-2901516"/>
            <a:ext cx="6419437" cy="6339194"/>
            <a:chOff x="0" y="0"/>
            <a:chExt cx="8559249" cy="8452259"/>
          </a:xfrm>
        </p:grpSpPr>
        <p:sp>
          <p:nvSpPr>
            <p:cNvPr name="Freeform 3" id="3"/>
            <p:cNvSpPr/>
            <p:nvPr/>
          </p:nvSpPr>
          <p:spPr>
            <a:xfrm flipH="false" flipV="false" rot="0">
              <a:off x="0" y="0"/>
              <a:ext cx="8559292" cy="8452231"/>
            </a:xfrm>
            <a:custGeom>
              <a:avLst/>
              <a:gdLst/>
              <a:ahLst/>
              <a:cxnLst/>
              <a:rect r="r" b="b" t="t" l="l"/>
              <a:pathLst>
                <a:path h="8452231" w="8559292">
                  <a:moveTo>
                    <a:pt x="0" y="0"/>
                  </a:moveTo>
                  <a:lnTo>
                    <a:pt x="8559292" y="0"/>
                  </a:lnTo>
                  <a:lnTo>
                    <a:pt x="8559292" y="8452231"/>
                  </a:lnTo>
                  <a:lnTo>
                    <a:pt x="0" y="8452231"/>
                  </a:lnTo>
                  <a:lnTo>
                    <a:pt x="0" y="0"/>
                  </a:lnTo>
                  <a:close/>
                </a:path>
              </a:pathLst>
            </a:custGeom>
            <a:blipFill>
              <a:blip r:embed="rId2"/>
              <a:stretch>
                <a:fillRect l="0" t="-33" r="0" b="-34"/>
              </a:stretch>
            </a:blipFill>
          </p:spPr>
        </p:sp>
      </p:grpSp>
      <p:grpSp>
        <p:nvGrpSpPr>
          <p:cNvPr name="Group 4" id="4"/>
          <p:cNvGrpSpPr/>
          <p:nvPr/>
        </p:nvGrpSpPr>
        <p:grpSpPr>
          <a:xfrm rot="0">
            <a:off x="14567404" y="6079821"/>
            <a:ext cx="6070895" cy="6356958"/>
            <a:chOff x="0" y="0"/>
            <a:chExt cx="8094527" cy="8475944"/>
          </a:xfrm>
        </p:grpSpPr>
        <p:sp>
          <p:nvSpPr>
            <p:cNvPr name="Freeform 5" id="5"/>
            <p:cNvSpPr/>
            <p:nvPr/>
          </p:nvSpPr>
          <p:spPr>
            <a:xfrm flipH="false" flipV="false" rot="0">
              <a:off x="0" y="0"/>
              <a:ext cx="8094472" cy="8475980"/>
            </a:xfrm>
            <a:custGeom>
              <a:avLst/>
              <a:gdLst/>
              <a:ahLst/>
              <a:cxnLst/>
              <a:rect r="r" b="b" t="t" l="l"/>
              <a:pathLst>
                <a:path h="8475980" w="8094472">
                  <a:moveTo>
                    <a:pt x="0" y="0"/>
                  </a:moveTo>
                  <a:lnTo>
                    <a:pt x="8094472" y="0"/>
                  </a:lnTo>
                  <a:lnTo>
                    <a:pt x="8094472" y="8475980"/>
                  </a:lnTo>
                  <a:lnTo>
                    <a:pt x="0" y="8475980"/>
                  </a:lnTo>
                  <a:lnTo>
                    <a:pt x="0" y="0"/>
                  </a:lnTo>
                  <a:close/>
                </a:path>
              </a:pathLst>
            </a:custGeom>
            <a:blipFill>
              <a:blip r:embed="rId3"/>
              <a:stretch>
                <a:fillRect l="0" t="-40" r="0" b="-40"/>
              </a:stretch>
            </a:blipFill>
          </p:spPr>
        </p:sp>
      </p:grpSp>
      <p:grpSp>
        <p:nvGrpSpPr>
          <p:cNvPr name="Group 6" id="6"/>
          <p:cNvGrpSpPr/>
          <p:nvPr/>
        </p:nvGrpSpPr>
        <p:grpSpPr>
          <a:xfrm rot="0">
            <a:off x="7769992" y="1200150"/>
            <a:ext cx="2748016" cy="1106805"/>
            <a:chOff x="0" y="0"/>
            <a:chExt cx="3664021" cy="1475740"/>
          </a:xfrm>
        </p:grpSpPr>
        <p:sp>
          <p:nvSpPr>
            <p:cNvPr name="Freeform 7" id="7"/>
            <p:cNvSpPr/>
            <p:nvPr/>
          </p:nvSpPr>
          <p:spPr>
            <a:xfrm flipH="false" flipV="false" rot="0">
              <a:off x="0" y="0"/>
              <a:ext cx="3664021" cy="1475740"/>
            </a:xfrm>
            <a:custGeom>
              <a:avLst/>
              <a:gdLst/>
              <a:ahLst/>
              <a:cxnLst/>
              <a:rect r="r" b="b" t="t" l="l"/>
              <a:pathLst>
                <a:path h="1475740" w="3664021">
                  <a:moveTo>
                    <a:pt x="0" y="0"/>
                  </a:moveTo>
                  <a:lnTo>
                    <a:pt x="3664021" y="0"/>
                  </a:lnTo>
                  <a:lnTo>
                    <a:pt x="3664021" y="1475740"/>
                  </a:lnTo>
                  <a:lnTo>
                    <a:pt x="0" y="1475740"/>
                  </a:lnTo>
                  <a:close/>
                </a:path>
              </a:pathLst>
            </a:custGeom>
            <a:solidFill>
              <a:srgbClr val="000000">
                <a:alpha val="0"/>
              </a:srgbClr>
            </a:solidFill>
          </p:spPr>
        </p:sp>
        <p:sp>
          <p:nvSpPr>
            <p:cNvPr name="TextBox 8" id="8"/>
            <p:cNvSpPr txBox="true"/>
            <p:nvPr/>
          </p:nvSpPr>
          <p:spPr>
            <a:xfrm>
              <a:off x="0" y="-190500"/>
              <a:ext cx="3664021" cy="1666240"/>
            </a:xfrm>
            <a:prstGeom prst="rect">
              <a:avLst/>
            </a:prstGeom>
          </p:spPr>
          <p:txBody>
            <a:bodyPr anchor="t" rtlCol="false" tIns="0" lIns="0" bIns="0" rIns="0"/>
            <a:lstStyle/>
            <a:p>
              <a:pPr algn="ctr">
                <a:lnSpc>
                  <a:spcPts val="7920"/>
                </a:lnSpc>
              </a:pPr>
              <a:r>
                <a:rPr lang="en-US" sz="6000" b="true">
                  <a:solidFill>
                    <a:srgbClr val="000000"/>
                  </a:solidFill>
                  <a:latin typeface="Arial Bold"/>
                  <a:ea typeface="Arial Bold"/>
                  <a:cs typeface="Arial Bold"/>
                  <a:sym typeface="Arial Bold"/>
                </a:rPr>
                <a:t>HOW?</a:t>
              </a:r>
            </a:p>
          </p:txBody>
        </p:sp>
      </p:grpSp>
      <p:grpSp>
        <p:nvGrpSpPr>
          <p:cNvPr name="Group 9" id="9"/>
          <p:cNvGrpSpPr/>
          <p:nvPr/>
        </p:nvGrpSpPr>
        <p:grpSpPr>
          <a:xfrm rot="0">
            <a:off x="3003008" y="3066955"/>
            <a:ext cx="8953500" cy="548662"/>
            <a:chOff x="0" y="0"/>
            <a:chExt cx="11938000" cy="731549"/>
          </a:xfrm>
        </p:grpSpPr>
        <p:sp>
          <p:nvSpPr>
            <p:cNvPr name="Freeform 10" id="10"/>
            <p:cNvSpPr/>
            <p:nvPr/>
          </p:nvSpPr>
          <p:spPr>
            <a:xfrm flipH="false" flipV="false" rot="0">
              <a:off x="0" y="0"/>
              <a:ext cx="11938000" cy="731549"/>
            </a:xfrm>
            <a:custGeom>
              <a:avLst/>
              <a:gdLst/>
              <a:ahLst/>
              <a:cxnLst/>
              <a:rect r="r" b="b" t="t" l="l"/>
              <a:pathLst>
                <a:path h="731549" w="11938000">
                  <a:moveTo>
                    <a:pt x="0" y="0"/>
                  </a:moveTo>
                  <a:lnTo>
                    <a:pt x="11938000" y="0"/>
                  </a:lnTo>
                  <a:lnTo>
                    <a:pt x="11938000" y="731549"/>
                  </a:lnTo>
                  <a:lnTo>
                    <a:pt x="0" y="731549"/>
                  </a:lnTo>
                  <a:close/>
                </a:path>
              </a:pathLst>
            </a:custGeom>
            <a:solidFill>
              <a:srgbClr val="000000">
                <a:alpha val="0"/>
              </a:srgbClr>
            </a:solidFill>
          </p:spPr>
        </p:sp>
        <p:sp>
          <p:nvSpPr>
            <p:cNvPr name="TextBox 11" id="11"/>
            <p:cNvSpPr txBox="true"/>
            <p:nvPr/>
          </p:nvSpPr>
          <p:spPr>
            <a:xfrm>
              <a:off x="0" y="-95250"/>
              <a:ext cx="11938000" cy="826799"/>
            </a:xfrm>
            <a:prstGeom prst="rect">
              <a:avLst/>
            </a:prstGeom>
          </p:spPr>
          <p:txBody>
            <a:bodyPr anchor="t" rtlCol="false" tIns="0" lIns="0" bIns="0" rIns="0"/>
            <a:lstStyle/>
            <a:p>
              <a:pPr algn="ctr">
                <a:lnSpc>
                  <a:spcPts val="3960"/>
                </a:lnSpc>
              </a:pPr>
              <a:r>
                <a:rPr lang="en-US" b="true" sz="3000" u="sng">
                  <a:solidFill>
                    <a:srgbClr val="000000"/>
                  </a:solidFill>
                  <a:latin typeface="Arial Bold"/>
                  <a:ea typeface="Arial Bold"/>
                  <a:cs typeface="Arial Bold"/>
                  <a:sym typeface="Arial Bold"/>
                </a:rPr>
                <a:t>then how are we going to solve this problem</a:t>
              </a:r>
            </a:p>
          </p:txBody>
        </p:sp>
      </p:grpSp>
      <p:grpSp>
        <p:nvGrpSpPr>
          <p:cNvPr name="Group 12" id="12"/>
          <p:cNvGrpSpPr/>
          <p:nvPr/>
        </p:nvGrpSpPr>
        <p:grpSpPr>
          <a:xfrm rot="0">
            <a:off x="3441041" y="3945291"/>
            <a:ext cx="12357580" cy="1877355"/>
            <a:chOff x="0" y="0"/>
            <a:chExt cx="16476773" cy="2503140"/>
          </a:xfrm>
        </p:grpSpPr>
        <p:sp>
          <p:nvSpPr>
            <p:cNvPr name="Freeform 13" id="13"/>
            <p:cNvSpPr/>
            <p:nvPr/>
          </p:nvSpPr>
          <p:spPr>
            <a:xfrm flipH="false" flipV="false" rot="0">
              <a:off x="0" y="0"/>
              <a:ext cx="16476774" cy="2503140"/>
            </a:xfrm>
            <a:custGeom>
              <a:avLst/>
              <a:gdLst/>
              <a:ahLst/>
              <a:cxnLst/>
              <a:rect r="r" b="b" t="t" l="l"/>
              <a:pathLst>
                <a:path h="2503140" w="16476774">
                  <a:moveTo>
                    <a:pt x="0" y="0"/>
                  </a:moveTo>
                  <a:lnTo>
                    <a:pt x="16476774" y="0"/>
                  </a:lnTo>
                  <a:lnTo>
                    <a:pt x="16476774" y="2503140"/>
                  </a:lnTo>
                  <a:lnTo>
                    <a:pt x="0" y="2503140"/>
                  </a:lnTo>
                  <a:close/>
                </a:path>
              </a:pathLst>
            </a:custGeom>
            <a:solidFill>
              <a:srgbClr val="000000">
                <a:alpha val="0"/>
              </a:srgbClr>
            </a:solidFill>
          </p:spPr>
        </p:sp>
        <p:sp>
          <p:nvSpPr>
            <p:cNvPr name="TextBox 14" id="14"/>
            <p:cNvSpPr txBox="true"/>
            <p:nvPr/>
          </p:nvSpPr>
          <p:spPr>
            <a:xfrm>
              <a:off x="0" y="-95250"/>
              <a:ext cx="16476773" cy="2598390"/>
            </a:xfrm>
            <a:prstGeom prst="rect">
              <a:avLst/>
            </a:prstGeom>
          </p:spPr>
          <p:txBody>
            <a:bodyPr anchor="t" rtlCol="false" tIns="0" lIns="0" bIns="0" rIns="0"/>
            <a:lstStyle/>
            <a:p>
              <a:pPr algn="just">
                <a:lnSpc>
                  <a:spcPts val="3612"/>
                </a:lnSpc>
              </a:pPr>
              <a:r>
                <a:rPr lang="en-US" sz="2736">
                  <a:solidFill>
                    <a:srgbClr val="000000"/>
                  </a:solidFill>
                  <a:latin typeface="Arial"/>
                  <a:ea typeface="Arial"/>
                  <a:cs typeface="Arial"/>
                  <a:sym typeface="Arial"/>
                </a:rPr>
                <a:t>To address the inefficiencies in doctor availability and appointment allocation, we propose an AI-powered digital scheduling system that ensures optimal resource utilization, reduced patient wait times, and improved doctor workload management</a:t>
              </a:r>
            </a:p>
          </p:txBody>
        </p:sp>
      </p:grpSp>
      <p:grpSp>
        <p:nvGrpSpPr>
          <p:cNvPr name="Group 15" id="15"/>
          <p:cNvGrpSpPr/>
          <p:nvPr/>
        </p:nvGrpSpPr>
        <p:grpSpPr>
          <a:xfrm rot="0">
            <a:off x="2993785" y="6846665"/>
            <a:ext cx="12357580" cy="3181885"/>
            <a:chOff x="0" y="0"/>
            <a:chExt cx="16476773" cy="4242514"/>
          </a:xfrm>
        </p:grpSpPr>
        <p:sp>
          <p:nvSpPr>
            <p:cNvPr name="Freeform 16" id="16"/>
            <p:cNvSpPr/>
            <p:nvPr/>
          </p:nvSpPr>
          <p:spPr>
            <a:xfrm flipH="false" flipV="false" rot="0">
              <a:off x="0" y="0"/>
              <a:ext cx="16476774" cy="4242514"/>
            </a:xfrm>
            <a:custGeom>
              <a:avLst/>
              <a:gdLst/>
              <a:ahLst/>
              <a:cxnLst/>
              <a:rect r="r" b="b" t="t" l="l"/>
              <a:pathLst>
                <a:path h="4242514" w="16476774">
                  <a:moveTo>
                    <a:pt x="0" y="0"/>
                  </a:moveTo>
                  <a:lnTo>
                    <a:pt x="16476774" y="0"/>
                  </a:lnTo>
                  <a:lnTo>
                    <a:pt x="16476774" y="4242514"/>
                  </a:lnTo>
                  <a:lnTo>
                    <a:pt x="0" y="4242514"/>
                  </a:lnTo>
                  <a:close/>
                </a:path>
              </a:pathLst>
            </a:custGeom>
            <a:solidFill>
              <a:srgbClr val="000000">
                <a:alpha val="0"/>
              </a:srgbClr>
            </a:solidFill>
          </p:spPr>
        </p:sp>
        <p:sp>
          <p:nvSpPr>
            <p:cNvPr name="TextBox 17" id="17"/>
            <p:cNvSpPr txBox="true"/>
            <p:nvPr/>
          </p:nvSpPr>
          <p:spPr>
            <a:xfrm>
              <a:off x="0" y="-85725"/>
              <a:ext cx="16476773" cy="4328239"/>
            </a:xfrm>
            <a:prstGeom prst="rect">
              <a:avLst/>
            </a:prstGeom>
          </p:spPr>
          <p:txBody>
            <a:bodyPr anchor="t" rtlCol="false" tIns="0" lIns="0" bIns="0" rIns="0"/>
            <a:lstStyle/>
            <a:p>
              <a:pPr algn="l" marL="617220" indent="-205740" lvl="2">
                <a:lnSpc>
                  <a:spcPts val="3564"/>
                </a:lnSpc>
                <a:buFont typeface="Arial"/>
                <a:buChar char="⚬"/>
              </a:pPr>
              <a:r>
                <a:rPr lang="en-US" sz="2700">
                  <a:solidFill>
                    <a:srgbClr val="000000"/>
                  </a:solidFill>
                  <a:latin typeface="Arial"/>
                  <a:ea typeface="Arial"/>
                  <a:cs typeface="Arial"/>
                  <a:sym typeface="Arial"/>
                </a:rPr>
                <a:t>Real-Time Availability Matching</a:t>
              </a:r>
            </a:p>
            <a:p>
              <a:pPr algn="l" marL="617220" indent="-205740" lvl="2">
                <a:lnSpc>
                  <a:spcPts val="3564"/>
                </a:lnSpc>
                <a:buFont typeface="Arial"/>
                <a:buChar char="⚬"/>
              </a:pPr>
              <a:r>
                <a:rPr lang="en-US" sz="2700">
                  <a:solidFill>
                    <a:srgbClr val="000000"/>
                  </a:solidFill>
                  <a:latin typeface="Arial"/>
                  <a:ea typeface="Arial"/>
                  <a:cs typeface="Arial"/>
                  <a:sym typeface="Arial"/>
                </a:rPr>
                <a:t>Priority-Based Scheduling</a:t>
              </a:r>
            </a:p>
            <a:p>
              <a:pPr algn="l" marL="617220" indent="-205740" lvl="2">
                <a:lnSpc>
                  <a:spcPts val="3564"/>
                </a:lnSpc>
                <a:buFont typeface="Arial"/>
                <a:buChar char="⚬"/>
              </a:pPr>
              <a:r>
                <a:rPr lang="en-US" sz="2700">
                  <a:solidFill>
                    <a:srgbClr val="000000"/>
                  </a:solidFill>
                  <a:latin typeface="Arial"/>
                  <a:ea typeface="Arial"/>
                  <a:cs typeface="Arial"/>
                  <a:sym typeface="Arial"/>
                </a:rPr>
                <a:t>User-Friendly Booking System</a:t>
              </a:r>
            </a:p>
            <a:p>
              <a:pPr algn="l" marL="617220" indent="-205740" lvl="2">
                <a:lnSpc>
                  <a:spcPts val="3564"/>
                </a:lnSpc>
                <a:buFont typeface="Arial"/>
                <a:buChar char="⚬"/>
              </a:pPr>
              <a:r>
                <a:rPr lang="en-US" sz="2700">
                  <a:solidFill>
                    <a:srgbClr val="000000"/>
                  </a:solidFill>
                  <a:latin typeface="Arial"/>
                  <a:ea typeface="Arial"/>
                  <a:cs typeface="Arial"/>
                  <a:sym typeface="Arial"/>
                </a:rPr>
                <a:t>AI Chatbot Assistance</a:t>
              </a:r>
            </a:p>
            <a:p>
              <a:pPr algn="l" marL="617220" indent="-205740" lvl="2">
                <a:lnSpc>
                  <a:spcPts val="3564"/>
                </a:lnSpc>
                <a:buFont typeface="Arial"/>
                <a:buChar char="⚬"/>
              </a:pPr>
              <a:r>
                <a:rPr lang="en-US" sz="2700">
                  <a:solidFill>
                    <a:srgbClr val="000000"/>
                  </a:solidFill>
                  <a:latin typeface="Arial"/>
                  <a:ea typeface="Arial"/>
                  <a:cs typeface="Arial"/>
                  <a:sym typeface="Arial"/>
                </a:rPr>
                <a:t>Check if medicine is available near you(just by uploading the image)</a:t>
              </a:r>
            </a:p>
            <a:p>
              <a:pPr algn="l" marL="617220" indent="-205740" lvl="2">
                <a:lnSpc>
                  <a:spcPts val="3564"/>
                </a:lnSpc>
                <a:buFont typeface="Arial"/>
                <a:buChar char="⚬"/>
              </a:pPr>
              <a:r>
                <a:rPr lang="en-US" sz="2700">
                  <a:solidFill>
                    <a:srgbClr val="000000"/>
                  </a:solidFill>
                  <a:latin typeface="Arial"/>
                  <a:ea typeface="Arial"/>
                  <a:cs typeface="Arial"/>
                  <a:sym typeface="Arial"/>
                </a:rPr>
                <a:t>At the time of emergency know which hospital is more near to you</a:t>
              </a:r>
            </a:p>
            <a:p>
              <a:pPr algn="ctr" marL="617220" indent="-205740" lvl="2">
                <a:lnSpc>
                  <a:spcPts val="3564"/>
                </a:lnSpc>
              </a:pPr>
            </a:p>
          </p:txBody>
        </p:sp>
      </p:grpSp>
      <p:grpSp>
        <p:nvGrpSpPr>
          <p:cNvPr name="Group 18" id="18"/>
          <p:cNvGrpSpPr/>
          <p:nvPr/>
        </p:nvGrpSpPr>
        <p:grpSpPr>
          <a:xfrm rot="0">
            <a:off x="1524226" y="6108396"/>
            <a:ext cx="2002541" cy="548662"/>
            <a:chOff x="0" y="0"/>
            <a:chExt cx="2670055" cy="731549"/>
          </a:xfrm>
        </p:grpSpPr>
        <p:sp>
          <p:nvSpPr>
            <p:cNvPr name="Freeform 19" id="19"/>
            <p:cNvSpPr/>
            <p:nvPr/>
          </p:nvSpPr>
          <p:spPr>
            <a:xfrm flipH="false" flipV="false" rot="0">
              <a:off x="0" y="0"/>
              <a:ext cx="2670055" cy="731549"/>
            </a:xfrm>
            <a:custGeom>
              <a:avLst/>
              <a:gdLst/>
              <a:ahLst/>
              <a:cxnLst/>
              <a:rect r="r" b="b" t="t" l="l"/>
              <a:pathLst>
                <a:path h="731549" w="2670055">
                  <a:moveTo>
                    <a:pt x="0" y="0"/>
                  </a:moveTo>
                  <a:lnTo>
                    <a:pt x="2670055" y="0"/>
                  </a:lnTo>
                  <a:lnTo>
                    <a:pt x="2670055" y="731549"/>
                  </a:lnTo>
                  <a:lnTo>
                    <a:pt x="0" y="731549"/>
                  </a:lnTo>
                  <a:close/>
                </a:path>
              </a:pathLst>
            </a:custGeom>
            <a:solidFill>
              <a:srgbClr val="000000">
                <a:alpha val="0"/>
              </a:srgbClr>
            </a:solidFill>
          </p:spPr>
        </p:sp>
        <p:sp>
          <p:nvSpPr>
            <p:cNvPr name="TextBox 20" id="20"/>
            <p:cNvSpPr txBox="true"/>
            <p:nvPr/>
          </p:nvSpPr>
          <p:spPr>
            <a:xfrm>
              <a:off x="0" y="-95250"/>
              <a:ext cx="2670055" cy="826799"/>
            </a:xfrm>
            <a:prstGeom prst="rect">
              <a:avLst/>
            </a:prstGeom>
          </p:spPr>
          <p:txBody>
            <a:bodyPr anchor="t" rtlCol="false" tIns="0" lIns="0" bIns="0" rIns="0"/>
            <a:lstStyle/>
            <a:p>
              <a:pPr algn="ctr">
                <a:lnSpc>
                  <a:spcPts val="3960"/>
                </a:lnSpc>
              </a:pPr>
              <a:r>
                <a:rPr lang="en-US" sz="3000" b="true">
                  <a:solidFill>
                    <a:srgbClr val="000000"/>
                  </a:solidFill>
                  <a:latin typeface="Arial Bold"/>
                  <a:ea typeface="Arial Bold"/>
                  <a:cs typeface="Arial Bold"/>
                  <a:sym typeface="Arial Bold"/>
                </a:rPr>
                <a:t>Features</a:t>
              </a:r>
              <a:r>
                <a:rPr lang="en-US" sz="3000" b="true">
                  <a:solidFill>
                    <a:srgbClr val="000000"/>
                  </a:solidFill>
                  <a:latin typeface="Arial Bold"/>
                  <a:ea typeface="Arial Bold"/>
                  <a:cs typeface="Arial Bold"/>
                  <a:sym typeface="Arial Bold"/>
                </a:rPr>
                <a:t>?</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006430" y="-2457276"/>
            <a:ext cx="6419437" cy="6339194"/>
            <a:chOff x="0" y="0"/>
            <a:chExt cx="8559249" cy="8452259"/>
          </a:xfrm>
        </p:grpSpPr>
        <p:sp>
          <p:nvSpPr>
            <p:cNvPr name="Freeform 3" id="3"/>
            <p:cNvSpPr/>
            <p:nvPr/>
          </p:nvSpPr>
          <p:spPr>
            <a:xfrm flipH="false" flipV="false" rot="0">
              <a:off x="0" y="0"/>
              <a:ext cx="8559292" cy="8452231"/>
            </a:xfrm>
            <a:custGeom>
              <a:avLst/>
              <a:gdLst/>
              <a:ahLst/>
              <a:cxnLst/>
              <a:rect r="r" b="b" t="t" l="l"/>
              <a:pathLst>
                <a:path h="8452231" w="8559292">
                  <a:moveTo>
                    <a:pt x="0" y="0"/>
                  </a:moveTo>
                  <a:lnTo>
                    <a:pt x="8559292" y="0"/>
                  </a:lnTo>
                  <a:lnTo>
                    <a:pt x="8559292" y="8452231"/>
                  </a:lnTo>
                  <a:lnTo>
                    <a:pt x="0" y="8452231"/>
                  </a:lnTo>
                  <a:lnTo>
                    <a:pt x="0" y="0"/>
                  </a:lnTo>
                  <a:close/>
                </a:path>
              </a:pathLst>
            </a:custGeom>
            <a:blipFill>
              <a:blip r:embed="rId2"/>
              <a:stretch>
                <a:fillRect l="0" t="-33" r="0" b="-34"/>
              </a:stretch>
            </a:blipFill>
          </p:spPr>
        </p:sp>
      </p:grpSp>
      <p:grpSp>
        <p:nvGrpSpPr>
          <p:cNvPr name="Group 4" id="4"/>
          <p:cNvGrpSpPr/>
          <p:nvPr/>
        </p:nvGrpSpPr>
        <p:grpSpPr>
          <a:xfrm rot="0">
            <a:off x="14223852" y="6079821"/>
            <a:ext cx="6070895" cy="6356958"/>
            <a:chOff x="0" y="0"/>
            <a:chExt cx="8094527" cy="8475944"/>
          </a:xfrm>
        </p:grpSpPr>
        <p:sp>
          <p:nvSpPr>
            <p:cNvPr name="Freeform 5" id="5"/>
            <p:cNvSpPr/>
            <p:nvPr/>
          </p:nvSpPr>
          <p:spPr>
            <a:xfrm flipH="false" flipV="false" rot="0">
              <a:off x="0" y="0"/>
              <a:ext cx="8094472" cy="8475980"/>
            </a:xfrm>
            <a:custGeom>
              <a:avLst/>
              <a:gdLst/>
              <a:ahLst/>
              <a:cxnLst/>
              <a:rect r="r" b="b" t="t" l="l"/>
              <a:pathLst>
                <a:path h="8475980" w="8094472">
                  <a:moveTo>
                    <a:pt x="0" y="0"/>
                  </a:moveTo>
                  <a:lnTo>
                    <a:pt x="8094472" y="0"/>
                  </a:lnTo>
                  <a:lnTo>
                    <a:pt x="8094472" y="8475980"/>
                  </a:lnTo>
                  <a:lnTo>
                    <a:pt x="0" y="8475980"/>
                  </a:lnTo>
                  <a:lnTo>
                    <a:pt x="0" y="0"/>
                  </a:lnTo>
                  <a:close/>
                </a:path>
              </a:pathLst>
            </a:custGeom>
            <a:blipFill>
              <a:blip r:embed="rId3"/>
              <a:stretch>
                <a:fillRect l="0" t="-40" r="0" b="-40"/>
              </a:stretch>
            </a:blipFill>
          </p:spPr>
        </p:sp>
      </p:grpSp>
      <p:grpSp>
        <p:nvGrpSpPr>
          <p:cNvPr name="Group 6" id="6"/>
          <p:cNvGrpSpPr/>
          <p:nvPr/>
        </p:nvGrpSpPr>
        <p:grpSpPr>
          <a:xfrm rot="0">
            <a:off x="4235459" y="6439503"/>
            <a:ext cx="11562687" cy="3114072"/>
            <a:chOff x="0" y="0"/>
            <a:chExt cx="15416916" cy="4152096"/>
          </a:xfrm>
        </p:grpSpPr>
        <p:sp>
          <p:nvSpPr>
            <p:cNvPr name="Freeform 7" id="7"/>
            <p:cNvSpPr/>
            <p:nvPr/>
          </p:nvSpPr>
          <p:spPr>
            <a:xfrm flipH="false" flipV="false" rot="0">
              <a:off x="0" y="0"/>
              <a:ext cx="15416916" cy="4152095"/>
            </a:xfrm>
            <a:custGeom>
              <a:avLst/>
              <a:gdLst/>
              <a:ahLst/>
              <a:cxnLst/>
              <a:rect r="r" b="b" t="t" l="l"/>
              <a:pathLst>
                <a:path h="4152095" w="15416916">
                  <a:moveTo>
                    <a:pt x="0" y="0"/>
                  </a:moveTo>
                  <a:lnTo>
                    <a:pt x="15416916" y="0"/>
                  </a:lnTo>
                  <a:lnTo>
                    <a:pt x="15416916" y="4152095"/>
                  </a:lnTo>
                  <a:lnTo>
                    <a:pt x="0" y="4152095"/>
                  </a:lnTo>
                  <a:close/>
                </a:path>
              </a:pathLst>
            </a:custGeom>
            <a:solidFill>
              <a:srgbClr val="000000">
                <a:alpha val="0"/>
              </a:srgbClr>
            </a:solidFill>
          </p:spPr>
        </p:sp>
        <p:sp>
          <p:nvSpPr>
            <p:cNvPr name="TextBox 8" id="8"/>
            <p:cNvSpPr txBox="true"/>
            <p:nvPr/>
          </p:nvSpPr>
          <p:spPr>
            <a:xfrm>
              <a:off x="0" y="-85725"/>
              <a:ext cx="15416916" cy="4237821"/>
            </a:xfrm>
            <a:prstGeom prst="rect">
              <a:avLst/>
            </a:prstGeom>
          </p:spPr>
          <p:txBody>
            <a:bodyPr anchor="t" rtlCol="false" tIns="0" lIns="0" bIns="0" rIns="0"/>
            <a:lstStyle/>
            <a:p>
              <a:pPr algn="l" marL="573862" indent="-286931" lvl="1">
                <a:lnSpc>
                  <a:spcPts val="3508"/>
                </a:lnSpc>
                <a:buFont typeface="Arial"/>
                <a:buChar char="•"/>
              </a:pPr>
              <a:r>
                <a:rPr lang="en-US" b="true" sz="2658">
                  <a:solidFill>
                    <a:srgbClr val="000000"/>
                  </a:solidFill>
                  <a:latin typeface="Arial Bold"/>
                  <a:ea typeface="Arial Bold"/>
                  <a:cs typeface="Arial Bold"/>
                  <a:sym typeface="Arial Bold"/>
                </a:rPr>
                <a:t>Scalability </a:t>
              </a:r>
              <a:r>
                <a:rPr lang="en-US" sz="2658">
                  <a:solidFill>
                    <a:srgbClr val="000000"/>
                  </a:solidFill>
                  <a:latin typeface="Arial"/>
                  <a:ea typeface="Arial"/>
                  <a:cs typeface="Arial"/>
                  <a:sym typeface="Arial"/>
                </a:rPr>
                <a:t>– Can handle multiple hospitals and high patient traffic.</a:t>
              </a:r>
            </a:p>
            <a:p>
              <a:pPr algn="l" marL="573862" indent="-286931" lvl="1">
                <a:lnSpc>
                  <a:spcPts val="3508"/>
                </a:lnSpc>
                <a:buFont typeface="Arial"/>
                <a:buChar char="•"/>
              </a:pPr>
              <a:r>
                <a:rPr lang="en-US" sz="2658">
                  <a:solidFill>
                    <a:srgbClr val="000000"/>
                  </a:solidFill>
                  <a:latin typeface="Arial"/>
                  <a:ea typeface="Arial"/>
                  <a:cs typeface="Arial"/>
                  <a:sym typeface="Arial"/>
                </a:rPr>
                <a:t> </a:t>
              </a:r>
              <a:r>
                <a:rPr lang="en-US" b="true" sz="2658">
                  <a:solidFill>
                    <a:srgbClr val="000000"/>
                  </a:solidFill>
                  <a:latin typeface="Arial Bold"/>
                  <a:ea typeface="Arial Bold"/>
                  <a:cs typeface="Arial Bold"/>
                  <a:sym typeface="Arial Bold"/>
                </a:rPr>
                <a:t>Performance Optimizatio</a:t>
              </a:r>
              <a:r>
                <a:rPr lang="en-US" sz="2658">
                  <a:solidFill>
                    <a:srgbClr val="000000"/>
                  </a:solidFill>
                  <a:latin typeface="Arial"/>
                  <a:ea typeface="Arial"/>
                  <a:cs typeface="Arial"/>
                  <a:sym typeface="Arial"/>
                </a:rPr>
                <a:t>n – AI-driven automation reduces waiting times and improves scheduling efficiency.</a:t>
              </a:r>
            </a:p>
            <a:p>
              <a:pPr algn="l" marL="573862" indent="-286931" lvl="1">
                <a:lnSpc>
                  <a:spcPts val="3508"/>
                </a:lnSpc>
                <a:buFont typeface="Arial"/>
                <a:buChar char="•"/>
              </a:pPr>
              <a:r>
                <a:rPr lang="en-US" sz="2658">
                  <a:solidFill>
                    <a:srgbClr val="000000"/>
                  </a:solidFill>
                  <a:latin typeface="Arial"/>
                  <a:ea typeface="Arial"/>
                  <a:cs typeface="Arial"/>
                  <a:sym typeface="Arial"/>
                </a:rPr>
                <a:t> </a:t>
              </a:r>
              <a:r>
                <a:rPr lang="en-US" b="true" sz="2658">
                  <a:solidFill>
                    <a:srgbClr val="000000"/>
                  </a:solidFill>
                  <a:latin typeface="Arial Bold"/>
                  <a:ea typeface="Arial Bold"/>
                  <a:cs typeface="Arial Bold"/>
                  <a:sym typeface="Arial Bold"/>
                </a:rPr>
                <a:t>Security &amp; Compliance</a:t>
              </a:r>
              <a:r>
                <a:rPr lang="en-US" sz="2658">
                  <a:solidFill>
                    <a:srgbClr val="000000"/>
                  </a:solidFill>
                  <a:latin typeface="Arial"/>
                  <a:ea typeface="Arial"/>
                  <a:cs typeface="Arial"/>
                  <a:sym typeface="Arial"/>
                </a:rPr>
                <a:t> – Ensures data privacy and prevents unauthorized access.</a:t>
              </a:r>
            </a:p>
            <a:p>
              <a:pPr algn="l" marL="573862" indent="-286931" lvl="1">
                <a:lnSpc>
                  <a:spcPts val="3508"/>
                </a:lnSpc>
                <a:buFont typeface="Arial"/>
                <a:buChar char="•"/>
              </a:pPr>
              <a:r>
                <a:rPr lang="en-US" sz="2658">
                  <a:solidFill>
                    <a:srgbClr val="000000"/>
                  </a:solidFill>
                  <a:latin typeface="Arial"/>
                  <a:ea typeface="Arial"/>
                  <a:cs typeface="Arial"/>
                  <a:sym typeface="Arial"/>
                </a:rPr>
                <a:t> </a:t>
              </a:r>
              <a:r>
                <a:rPr lang="en-US" b="true" sz="2658">
                  <a:solidFill>
                    <a:srgbClr val="000000"/>
                  </a:solidFill>
                  <a:latin typeface="Arial Bold"/>
                  <a:ea typeface="Arial Bold"/>
                  <a:cs typeface="Arial Bold"/>
                  <a:sym typeface="Arial Bold"/>
                </a:rPr>
                <a:t>User-Friendly Experience</a:t>
              </a:r>
              <a:r>
                <a:rPr lang="en-US" sz="2658">
                  <a:solidFill>
                    <a:srgbClr val="000000"/>
                  </a:solidFill>
                  <a:latin typeface="Arial"/>
                  <a:ea typeface="Arial"/>
                  <a:cs typeface="Arial"/>
                  <a:sym typeface="Arial"/>
                </a:rPr>
                <a:t> – Patients and doctors get an intuitive, hassle-free system.</a:t>
              </a:r>
            </a:p>
          </p:txBody>
        </p:sp>
      </p:grpSp>
      <p:grpSp>
        <p:nvGrpSpPr>
          <p:cNvPr name="Group 9" id="9"/>
          <p:cNvGrpSpPr/>
          <p:nvPr/>
        </p:nvGrpSpPr>
        <p:grpSpPr>
          <a:xfrm rot="0">
            <a:off x="879466" y="5815015"/>
            <a:ext cx="4441823" cy="548662"/>
            <a:chOff x="0" y="0"/>
            <a:chExt cx="5843588" cy="721811"/>
          </a:xfrm>
        </p:grpSpPr>
        <p:sp>
          <p:nvSpPr>
            <p:cNvPr name="Freeform 10" id="10"/>
            <p:cNvSpPr/>
            <p:nvPr/>
          </p:nvSpPr>
          <p:spPr>
            <a:xfrm flipH="false" flipV="false" rot="0">
              <a:off x="0" y="0"/>
              <a:ext cx="5843588" cy="721811"/>
            </a:xfrm>
            <a:custGeom>
              <a:avLst/>
              <a:gdLst/>
              <a:ahLst/>
              <a:cxnLst/>
              <a:rect r="r" b="b" t="t" l="l"/>
              <a:pathLst>
                <a:path h="721811" w="5843588">
                  <a:moveTo>
                    <a:pt x="0" y="0"/>
                  </a:moveTo>
                  <a:lnTo>
                    <a:pt x="5843588" y="0"/>
                  </a:lnTo>
                  <a:lnTo>
                    <a:pt x="5843588" y="721811"/>
                  </a:lnTo>
                  <a:lnTo>
                    <a:pt x="0" y="721811"/>
                  </a:lnTo>
                  <a:close/>
                </a:path>
              </a:pathLst>
            </a:custGeom>
            <a:solidFill>
              <a:srgbClr val="000000">
                <a:alpha val="0"/>
              </a:srgbClr>
            </a:solidFill>
          </p:spPr>
        </p:sp>
        <p:sp>
          <p:nvSpPr>
            <p:cNvPr name="TextBox 11" id="11"/>
            <p:cNvSpPr txBox="true"/>
            <p:nvPr/>
          </p:nvSpPr>
          <p:spPr>
            <a:xfrm>
              <a:off x="0" y="-95250"/>
              <a:ext cx="5843588" cy="817061"/>
            </a:xfrm>
            <a:prstGeom prst="rect">
              <a:avLst/>
            </a:prstGeom>
          </p:spPr>
          <p:txBody>
            <a:bodyPr anchor="t" rtlCol="false" tIns="0" lIns="0" bIns="0" rIns="0"/>
            <a:lstStyle/>
            <a:p>
              <a:pPr algn="ctr">
                <a:lnSpc>
                  <a:spcPts val="3960"/>
                </a:lnSpc>
              </a:pPr>
              <a:r>
                <a:rPr lang="en-US" sz="3000" b="true">
                  <a:solidFill>
                    <a:srgbClr val="000000"/>
                  </a:solidFill>
                  <a:latin typeface="Arial Bold"/>
                  <a:ea typeface="Arial Bold"/>
                  <a:cs typeface="Arial Bold"/>
                  <a:sym typeface="Arial Bold"/>
                </a:rPr>
                <a:t>Advantages</a:t>
              </a:r>
            </a:p>
          </p:txBody>
        </p:sp>
      </p:grpSp>
      <p:grpSp>
        <p:nvGrpSpPr>
          <p:cNvPr name="Group 12" id="12"/>
          <p:cNvGrpSpPr/>
          <p:nvPr/>
        </p:nvGrpSpPr>
        <p:grpSpPr>
          <a:xfrm rot="0">
            <a:off x="4178309" y="2550257"/>
            <a:ext cx="11800759" cy="3025272"/>
            <a:chOff x="0" y="0"/>
            <a:chExt cx="15734346" cy="4033696"/>
          </a:xfrm>
        </p:grpSpPr>
        <p:sp>
          <p:nvSpPr>
            <p:cNvPr name="Freeform 13" id="13"/>
            <p:cNvSpPr/>
            <p:nvPr/>
          </p:nvSpPr>
          <p:spPr>
            <a:xfrm flipH="false" flipV="false" rot="0">
              <a:off x="0" y="0"/>
              <a:ext cx="15734347" cy="4033696"/>
            </a:xfrm>
            <a:custGeom>
              <a:avLst/>
              <a:gdLst/>
              <a:ahLst/>
              <a:cxnLst/>
              <a:rect r="r" b="b" t="t" l="l"/>
              <a:pathLst>
                <a:path h="4033696" w="15734347">
                  <a:moveTo>
                    <a:pt x="0" y="0"/>
                  </a:moveTo>
                  <a:lnTo>
                    <a:pt x="15734347" y="0"/>
                  </a:lnTo>
                  <a:lnTo>
                    <a:pt x="15734347" y="4033696"/>
                  </a:lnTo>
                  <a:lnTo>
                    <a:pt x="0" y="4033696"/>
                  </a:lnTo>
                  <a:close/>
                </a:path>
              </a:pathLst>
            </a:custGeom>
            <a:solidFill>
              <a:srgbClr val="000000">
                <a:alpha val="0"/>
              </a:srgbClr>
            </a:solidFill>
          </p:spPr>
        </p:sp>
        <p:sp>
          <p:nvSpPr>
            <p:cNvPr name="TextBox 14" id="14"/>
            <p:cNvSpPr txBox="true"/>
            <p:nvPr/>
          </p:nvSpPr>
          <p:spPr>
            <a:xfrm>
              <a:off x="0" y="-95250"/>
              <a:ext cx="15734346" cy="4128946"/>
            </a:xfrm>
            <a:prstGeom prst="rect">
              <a:avLst/>
            </a:prstGeom>
          </p:spPr>
          <p:txBody>
            <a:bodyPr anchor="t" rtlCol="false" tIns="0" lIns="0" bIns="0" rIns="0"/>
            <a:lstStyle/>
            <a:p>
              <a:pPr algn="l" marL="647700" indent="-323850" lvl="1">
                <a:lnSpc>
                  <a:spcPts val="3960"/>
                </a:lnSpc>
                <a:buFont typeface="Arial"/>
                <a:buChar char="•"/>
              </a:pPr>
              <a:r>
                <a:rPr lang="en-US" sz="3000">
                  <a:solidFill>
                    <a:srgbClr val="000000"/>
                  </a:solidFill>
                  <a:latin typeface="Arial"/>
                  <a:ea typeface="Arial"/>
                  <a:cs typeface="Arial"/>
                  <a:sym typeface="Arial"/>
                </a:rPr>
                <a:t>HTML - </a:t>
              </a:r>
              <a:r>
                <a:rPr lang="en-US" sz="3000">
                  <a:solidFill>
                    <a:srgbClr val="000000"/>
                  </a:solidFill>
                  <a:latin typeface="Arial"/>
                  <a:ea typeface="Arial"/>
                  <a:cs typeface="Arial"/>
                  <a:sym typeface="Arial"/>
                </a:rPr>
                <a:t>St</a:t>
              </a:r>
              <a:r>
                <a:rPr lang="en-US" sz="3000">
                  <a:solidFill>
                    <a:srgbClr val="000000"/>
                  </a:solidFill>
                  <a:latin typeface="Arial"/>
                  <a:ea typeface="Arial"/>
                  <a:cs typeface="Arial"/>
                  <a:sym typeface="Arial"/>
                </a:rPr>
                <a:t>ructure of the webpage</a:t>
              </a:r>
            </a:p>
            <a:p>
              <a:pPr algn="l" marL="647700" indent="-323850" lvl="1">
                <a:lnSpc>
                  <a:spcPts val="3960"/>
                </a:lnSpc>
                <a:buFont typeface="Arial"/>
                <a:buChar char="•"/>
              </a:pPr>
              <a:r>
                <a:rPr lang="en-US" sz="3000">
                  <a:solidFill>
                    <a:srgbClr val="000000"/>
                  </a:solidFill>
                  <a:latin typeface="Arial"/>
                  <a:ea typeface="Arial"/>
                  <a:cs typeface="Arial"/>
                  <a:sym typeface="Arial"/>
                </a:rPr>
                <a:t>CSS - Styling &amp; layout</a:t>
              </a:r>
            </a:p>
            <a:p>
              <a:pPr algn="l" marL="647700" indent="-323850" lvl="1">
                <a:lnSpc>
                  <a:spcPts val="3960"/>
                </a:lnSpc>
                <a:buFont typeface="Arial"/>
                <a:buChar char="•"/>
              </a:pPr>
              <a:r>
                <a:rPr lang="en-US" sz="3000">
                  <a:solidFill>
                    <a:srgbClr val="000000"/>
                  </a:solidFill>
                  <a:latin typeface="Arial"/>
                  <a:ea typeface="Arial"/>
                  <a:cs typeface="Arial"/>
                  <a:sym typeface="Arial"/>
                </a:rPr>
                <a:t>JavaScript - Interactivity &amp; logic</a:t>
              </a:r>
            </a:p>
            <a:p>
              <a:pPr algn="l" marL="647700" indent="-323850" lvl="1">
                <a:lnSpc>
                  <a:spcPts val="3960"/>
                </a:lnSpc>
                <a:buFont typeface="Arial"/>
                <a:buChar char="•"/>
              </a:pPr>
              <a:r>
                <a:rPr lang="en-US" sz="3000">
                  <a:solidFill>
                    <a:srgbClr val="000000"/>
                  </a:solidFill>
                  <a:latin typeface="Arial"/>
                  <a:ea typeface="Arial"/>
                  <a:cs typeface="Arial"/>
                  <a:sym typeface="Arial"/>
                </a:rPr>
                <a:t>Google Maps JavaScript API - Display maps &amp; markers</a:t>
              </a:r>
            </a:p>
            <a:p>
              <a:pPr algn="l" marL="647700" indent="-323850" lvl="1">
                <a:lnSpc>
                  <a:spcPts val="3960"/>
                </a:lnSpc>
                <a:buFont typeface="Arial"/>
                <a:buChar char="•"/>
              </a:pPr>
              <a:r>
                <a:rPr lang="en-US" sz="3000">
                  <a:solidFill>
                    <a:srgbClr val="000000"/>
                  </a:solidFill>
                  <a:latin typeface="Arial"/>
                  <a:ea typeface="Arial"/>
                  <a:cs typeface="Arial"/>
                  <a:sym typeface="Arial"/>
                </a:rPr>
                <a:t>Geolocation API - Get user's location</a:t>
              </a:r>
            </a:p>
            <a:p>
              <a:pPr algn="l" marL="647700" indent="-323850" lvl="1">
                <a:lnSpc>
                  <a:spcPts val="3960"/>
                </a:lnSpc>
                <a:buFont typeface="Arial"/>
                <a:buChar char="•"/>
              </a:pPr>
              <a:r>
                <a:rPr lang="en-US" sz="3000">
                  <a:solidFill>
                    <a:srgbClr val="000000"/>
                  </a:solidFill>
                  <a:latin typeface="Arial"/>
                  <a:ea typeface="Arial"/>
                  <a:cs typeface="Arial"/>
                  <a:sym typeface="Arial"/>
                </a:rPr>
                <a:t>Google Cloud Platform (GCP) - Provides Maps API &amp; Places API</a:t>
              </a:r>
            </a:p>
          </p:txBody>
        </p:sp>
      </p:grpSp>
      <p:sp>
        <p:nvSpPr>
          <p:cNvPr name="TextBox 15" id="15"/>
          <p:cNvSpPr txBox="true"/>
          <p:nvPr/>
        </p:nvSpPr>
        <p:spPr>
          <a:xfrm rot="0">
            <a:off x="471829" y="1767280"/>
            <a:ext cx="4592285" cy="544852"/>
          </a:xfrm>
          <a:prstGeom prst="rect">
            <a:avLst/>
          </a:prstGeom>
        </p:spPr>
        <p:txBody>
          <a:bodyPr anchor="t" rtlCol="false" tIns="0" lIns="0" bIns="0" rIns="0">
            <a:spAutoFit/>
          </a:bodyPr>
          <a:lstStyle/>
          <a:p>
            <a:pPr algn="ctr">
              <a:lnSpc>
                <a:spcPts val="3960"/>
              </a:lnSpc>
              <a:spcBef>
                <a:spcPct val="0"/>
              </a:spcBef>
            </a:pPr>
            <a:r>
              <a:rPr lang="en-US" b="true" sz="3000">
                <a:solidFill>
                  <a:srgbClr val="000000"/>
                </a:solidFill>
                <a:latin typeface="Arial Bold"/>
                <a:ea typeface="Arial Bold"/>
                <a:cs typeface="Arial Bold"/>
                <a:sym typeface="Arial Bold"/>
              </a:rPr>
              <a:t>What are the Tech Stack?</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5748" y="-2340842"/>
            <a:ext cx="6419437" cy="6339194"/>
            <a:chOff x="0" y="0"/>
            <a:chExt cx="8559249" cy="8452259"/>
          </a:xfrm>
        </p:grpSpPr>
        <p:sp>
          <p:nvSpPr>
            <p:cNvPr name="Freeform 3" id="3"/>
            <p:cNvSpPr/>
            <p:nvPr/>
          </p:nvSpPr>
          <p:spPr>
            <a:xfrm flipH="false" flipV="false" rot="0">
              <a:off x="0" y="0"/>
              <a:ext cx="8559292" cy="8452231"/>
            </a:xfrm>
            <a:custGeom>
              <a:avLst/>
              <a:gdLst/>
              <a:ahLst/>
              <a:cxnLst/>
              <a:rect r="r" b="b" t="t" l="l"/>
              <a:pathLst>
                <a:path h="8452231" w="8559292">
                  <a:moveTo>
                    <a:pt x="0" y="0"/>
                  </a:moveTo>
                  <a:lnTo>
                    <a:pt x="8559292" y="0"/>
                  </a:lnTo>
                  <a:lnTo>
                    <a:pt x="8559292" y="8452231"/>
                  </a:lnTo>
                  <a:lnTo>
                    <a:pt x="0" y="8452231"/>
                  </a:lnTo>
                  <a:lnTo>
                    <a:pt x="0" y="0"/>
                  </a:lnTo>
                  <a:close/>
                </a:path>
              </a:pathLst>
            </a:custGeom>
            <a:blipFill>
              <a:blip r:embed="rId2"/>
              <a:stretch>
                <a:fillRect l="0" t="-33" r="0" b="-34"/>
              </a:stretch>
            </a:blipFill>
          </p:spPr>
        </p:sp>
      </p:grpSp>
      <p:grpSp>
        <p:nvGrpSpPr>
          <p:cNvPr name="Group 4" id="4"/>
          <p:cNvGrpSpPr/>
          <p:nvPr/>
        </p:nvGrpSpPr>
        <p:grpSpPr>
          <a:xfrm rot="0">
            <a:off x="14223852" y="6079821"/>
            <a:ext cx="6070895" cy="6356958"/>
            <a:chOff x="0" y="0"/>
            <a:chExt cx="8094527" cy="8475944"/>
          </a:xfrm>
        </p:grpSpPr>
        <p:sp>
          <p:nvSpPr>
            <p:cNvPr name="Freeform 5" id="5"/>
            <p:cNvSpPr/>
            <p:nvPr/>
          </p:nvSpPr>
          <p:spPr>
            <a:xfrm flipH="false" flipV="false" rot="0">
              <a:off x="0" y="0"/>
              <a:ext cx="8094472" cy="8475980"/>
            </a:xfrm>
            <a:custGeom>
              <a:avLst/>
              <a:gdLst/>
              <a:ahLst/>
              <a:cxnLst/>
              <a:rect r="r" b="b" t="t" l="l"/>
              <a:pathLst>
                <a:path h="8475980" w="8094472">
                  <a:moveTo>
                    <a:pt x="0" y="0"/>
                  </a:moveTo>
                  <a:lnTo>
                    <a:pt x="8094472" y="0"/>
                  </a:lnTo>
                  <a:lnTo>
                    <a:pt x="8094472" y="8475980"/>
                  </a:lnTo>
                  <a:lnTo>
                    <a:pt x="0" y="8475980"/>
                  </a:lnTo>
                  <a:lnTo>
                    <a:pt x="0" y="0"/>
                  </a:lnTo>
                  <a:close/>
                </a:path>
              </a:pathLst>
            </a:custGeom>
            <a:blipFill>
              <a:blip r:embed="rId3"/>
              <a:stretch>
                <a:fillRect l="0" t="-40" r="0" b="-40"/>
              </a:stretch>
            </a:blipFill>
          </p:spPr>
        </p:sp>
      </p:grpSp>
      <p:grpSp>
        <p:nvGrpSpPr>
          <p:cNvPr name="Group 6" id="6"/>
          <p:cNvGrpSpPr/>
          <p:nvPr/>
        </p:nvGrpSpPr>
        <p:grpSpPr>
          <a:xfrm rot="0">
            <a:off x="7704349" y="1016649"/>
            <a:ext cx="2464713" cy="1043984"/>
            <a:chOff x="0" y="0"/>
            <a:chExt cx="3286284" cy="1391979"/>
          </a:xfrm>
        </p:grpSpPr>
        <p:sp>
          <p:nvSpPr>
            <p:cNvPr name="Freeform 7" id="7"/>
            <p:cNvSpPr/>
            <p:nvPr/>
          </p:nvSpPr>
          <p:spPr>
            <a:xfrm flipH="false" flipV="false" rot="0">
              <a:off x="0" y="0"/>
              <a:ext cx="3286284" cy="1391979"/>
            </a:xfrm>
            <a:custGeom>
              <a:avLst/>
              <a:gdLst/>
              <a:ahLst/>
              <a:cxnLst/>
              <a:rect r="r" b="b" t="t" l="l"/>
              <a:pathLst>
                <a:path h="1391979" w="3286284">
                  <a:moveTo>
                    <a:pt x="0" y="0"/>
                  </a:moveTo>
                  <a:lnTo>
                    <a:pt x="3286284" y="0"/>
                  </a:lnTo>
                  <a:lnTo>
                    <a:pt x="3286284" y="1391979"/>
                  </a:lnTo>
                  <a:lnTo>
                    <a:pt x="0" y="1391979"/>
                  </a:lnTo>
                  <a:close/>
                </a:path>
              </a:pathLst>
            </a:custGeom>
            <a:solidFill>
              <a:srgbClr val="000000">
                <a:alpha val="0"/>
              </a:srgbClr>
            </a:solidFill>
          </p:spPr>
        </p:sp>
        <p:sp>
          <p:nvSpPr>
            <p:cNvPr name="TextBox 8" id="8"/>
            <p:cNvSpPr txBox="true"/>
            <p:nvPr/>
          </p:nvSpPr>
          <p:spPr>
            <a:xfrm>
              <a:off x="0" y="-95250"/>
              <a:ext cx="3286284" cy="1487229"/>
            </a:xfrm>
            <a:prstGeom prst="rect">
              <a:avLst/>
            </a:prstGeom>
          </p:spPr>
          <p:txBody>
            <a:bodyPr anchor="t" rtlCol="false" tIns="0" lIns="0" bIns="0" rIns="0"/>
            <a:lstStyle/>
            <a:p>
              <a:pPr algn="ctr">
                <a:lnSpc>
                  <a:spcPts val="3960"/>
                </a:lnSpc>
              </a:pPr>
              <a:r>
                <a:rPr lang="en-US" sz="3000" b="true">
                  <a:solidFill>
                    <a:srgbClr val="000000"/>
                  </a:solidFill>
                  <a:latin typeface="Arial Bold"/>
                  <a:ea typeface="Arial Bold"/>
                  <a:cs typeface="Arial Bold"/>
                  <a:sym typeface="Arial Bold"/>
                </a:rPr>
                <a:t>Demo Video</a:t>
              </a:r>
            </a:p>
            <a:p>
              <a:pPr algn="ctr">
                <a:lnSpc>
                  <a:spcPts val="3960"/>
                </a:lnSpc>
              </a:pPr>
            </a:p>
          </p:txBody>
        </p:sp>
      </p:grpSp>
      <p:pic>
        <p:nvPicPr>
          <p:cNvPr name="Picture 9" id="9">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11335" r="0" b="0"/>
          <a:stretch>
            <a:fillRect/>
          </a:stretch>
        </p:blipFill>
        <p:spPr>
          <a:xfrm flipH="false" flipV="false" rot="0">
            <a:off x="1398494" y="1961529"/>
            <a:ext cx="15491012" cy="7296771"/>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9"/>
                </p:tgtEl>
              </p:cMediaNode>
            </p:video>
          </p:childTnLst>
        </p:cTn>
      </p:par>
    </p:tnLst>
  </p:timing>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81019" y="-2560236"/>
            <a:ext cx="6419437" cy="6339194"/>
            <a:chOff x="0" y="0"/>
            <a:chExt cx="8559249" cy="8452259"/>
          </a:xfrm>
        </p:grpSpPr>
        <p:sp>
          <p:nvSpPr>
            <p:cNvPr name="Freeform 3" id="3"/>
            <p:cNvSpPr/>
            <p:nvPr/>
          </p:nvSpPr>
          <p:spPr>
            <a:xfrm flipH="false" flipV="false" rot="0">
              <a:off x="0" y="0"/>
              <a:ext cx="8559292" cy="8452231"/>
            </a:xfrm>
            <a:custGeom>
              <a:avLst/>
              <a:gdLst/>
              <a:ahLst/>
              <a:cxnLst/>
              <a:rect r="r" b="b" t="t" l="l"/>
              <a:pathLst>
                <a:path h="8452231" w="8559292">
                  <a:moveTo>
                    <a:pt x="0" y="0"/>
                  </a:moveTo>
                  <a:lnTo>
                    <a:pt x="8559292" y="0"/>
                  </a:lnTo>
                  <a:lnTo>
                    <a:pt x="8559292" y="8452231"/>
                  </a:lnTo>
                  <a:lnTo>
                    <a:pt x="0" y="8452231"/>
                  </a:lnTo>
                  <a:lnTo>
                    <a:pt x="0" y="0"/>
                  </a:lnTo>
                  <a:close/>
                </a:path>
              </a:pathLst>
            </a:custGeom>
            <a:blipFill>
              <a:blip r:embed="rId2"/>
              <a:stretch>
                <a:fillRect l="0" t="-33" r="0" b="-34"/>
              </a:stretch>
            </a:blipFill>
          </p:spPr>
        </p:sp>
      </p:grpSp>
      <p:grpSp>
        <p:nvGrpSpPr>
          <p:cNvPr name="Group 4" id="4"/>
          <p:cNvGrpSpPr/>
          <p:nvPr/>
        </p:nvGrpSpPr>
        <p:grpSpPr>
          <a:xfrm rot="0">
            <a:off x="14703501" y="6079821"/>
            <a:ext cx="6070895" cy="6356958"/>
            <a:chOff x="0" y="0"/>
            <a:chExt cx="8094527" cy="8475944"/>
          </a:xfrm>
        </p:grpSpPr>
        <p:sp>
          <p:nvSpPr>
            <p:cNvPr name="Freeform 5" id="5"/>
            <p:cNvSpPr/>
            <p:nvPr/>
          </p:nvSpPr>
          <p:spPr>
            <a:xfrm flipH="false" flipV="false" rot="0">
              <a:off x="0" y="0"/>
              <a:ext cx="8094472" cy="8475980"/>
            </a:xfrm>
            <a:custGeom>
              <a:avLst/>
              <a:gdLst/>
              <a:ahLst/>
              <a:cxnLst/>
              <a:rect r="r" b="b" t="t" l="l"/>
              <a:pathLst>
                <a:path h="8475980" w="8094472">
                  <a:moveTo>
                    <a:pt x="0" y="0"/>
                  </a:moveTo>
                  <a:lnTo>
                    <a:pt x="8094472" y="0"/>
                  </a:lnTo>
                  <a:lnTo>
                    <a:pt x="8094472" y="8475980"/>
                  </a:lnTo>
                  <a:lnTo>
                    <a:pt x="0" y="8475980"/>
                  </a:lnTo>
                  <a:lnTo>
                    <a:pt x="0" y="0"/>
                  </a:lnTo>
                  <a:close/>
                </a:path>
              </a:pathLst>
            </a:custGeom>
            <a:blipFill>
              <a:blip r:embed="rId3"/>
              <a:stretch>
                <a:fillRect l="0" t="-40" r="0" b="-40"/>
              </a:stretch>
            </a:blipFill>
          </p:spPr>
        </p:sp>
      </p:grpSp>
      <p:grpSp>
        <p:nvGrpSpPr>
          <p:cNvPr name="Group 6" id="6"/>
          <p:cNvGrpSpPr/>
          <p:nvPr/>
        </p:nvGrpSpPr>
        <p:grpSpPr>
          <a:xfrm rot="0">
            <a:off x="663635" y="3230296"/>
            <a:ext cx="3254812" cy="548662"/>
            <a:chOff x="0" y="0"/>
            <a:chExt cx="4339749" cy="731549"/>
          </a:xfrm>
        </p:grpSpPr>
        <p:sp>
          <p:nvSpPr>
            <p:cNvPr name="Freeform 7" id="7"/>
            <p:cNvSpPr/>
            <p:nvPr/>
          </p:nvSpPr>
          <p:spPr>
            <a:xfrm flipH="false" flipV="false" rot="0">
              <a:off x="0" y="0"/>
              <a:ext cx="4339749" cy="731549"/>
            </a:xfrm>
            <a:custGeom>
              <a:avLst/>
              <a:gdLst/>
              <a:ahLst/>
              <a:cxnLst/>
              <a:rect r="r" b="b" t="t" l="l"/>
              <a:pathLst>
                <a:path h="731549" w="4339749">
                  <a:moveTo>
                    <a:pt x="0" y="0"/>
                  </a:moveTo>
                  <a:lnTo>
                    <a:pt x="4339749" y="0"/>
                  </a:lnTo>
                  <a:lnTo>
                    <a:pt x="4339749" y="731549"/>
                  </a:lnTo>
                  <a:lnTo>
                    <a:pt x="0" y="731549"/>
                  </a:lnTo>
                  <a:close/>
                </a:path>
              </a:pathLst>
            </a:custGeom>
            <a:solidFill>
              <a:srgbClr val="000000">
                <a:alpha val="0"/>
              </a:srgbClr>
            </a:solidFill>
          </p:spPr>
        </p:sp>
        <p:sp>
          <p:nvSpPr>
            <p:cNvPr name="TextBox 8" id="8"/>
            <p:cNvSpPr txBox="true"/>
            <p:nvPr/>
          </p:nvSpPr>
          <p:spPr>
            <a:xfrm>
              <a:off x="0" y="-95250"/>
              <a:ext cx="4339749" cy="826799"/>
            </a:xfrm>
            <a:prstGeom prst="rect">
              <a:avLst/>
            </a:prstGeom>
          </p:spPr>
          <p:txBody>
            <a:bodyPr anchor="t" rtlCol="false" tIns="0" lIns="0" bIns="0" rIns="0"/>
            <a:lstStyle/>
            <a:p>
              <a:pPr algn="ctr">
                <a:lnSpc>
                  <a:spcPts val="3960"/>
                </a:lnSpc>
              </a:pPr>
              <a:r>
                <a:rPr lang="en-US" b="true" sz="3000" u="sng">
                  <a:solidFill>
                    <a:srgbClr val="000000"/>
                  </a:solidFill>
                  <a:latin typeface="Arial Bold"/>
                  <a:ea typeface="Arial Bold"/>
                  <a:cs typeface="Arial Bold"/>
                  <a:sym typeface="Arial Bold"/>
                </a:rPr>
                <a:t>WOW Factor</a:t>
              </a:r>
            </a:p>
          </p:txBody>
        </p:sp>
      </p:grpSp>
      <p:grpSp>
        <p:nvGrpSpPr>
          <p:cNvPr name="Group 9" id="9"/>
          <p:cNvGrpSpPr/>
          <p:nvPr/>
        </p:nvGrpSpPr>
        <p:grpSpPr>
          <a:xfrm rot="0">
            <a:off x="1597218" y="4263387"/>
            <a:ext cx="7794338" cy="2617475"/>
            <a:chOff x="0" y="0"/>
            <a:chExt cx="10392451" cy="3489967"/>
          </a:xfrm>
        </p:grpSpPr>
        <p:sp>
          <p:nvSpPr>
            <p:cNvPr name="Freeform 10" id="10"/>
            <p:cNvSpPr/>
            <p:nvPr/>
          </p:nvSpPr>
          <p:spPr>
            <a:xfrm flipH="false" flipV="false" rot="0">
              <a:off x="0" y="0"/>
              <a:ext cx="10392451" cy="3489967"/>
            </a:xfrm>
            <a:custGeom>
              <a:avLst/>
              <a:gdLst/>
              <a:ahLst/>
              <a:cxnLst/>
              <a:rect r="r" b="b" t="t" l="l"/>
              <a:pathLst>
                <a:path h="3489967" w="10392451">
                  <a:moveTo>
                    <a:pt x="0" y="0"/>
                  </a:moveTo>
                  <a:lnTo>
                    <a:pt x="10392451" y="0"/>
                  </a:lnTo>
                  <a:lnTo>
                    <a:pt x="10392451" y="3489967"/>
                  </a:lnTo>
                  <a:lnTo>
                    <a:pt x="0" y="3489967"/>
                  </a:lnTo>
                  <a:close/>
                </a:path>
              </a:pathLst>
            </a:custGeom>
            <a:solidFill>
              <a:srgbClr val="000000">
                <a:alpha val="0"/>
              </a:srgbClr>
            </a:solidFill>
          </p:spPr>
        </p:sp>
        <p:sp>
          <p:nvSpPr>
            <p:cNvPr name="TextBox 11" id="11"/>
            <p:cNvSpPr txBox="true"/>
            <p:nvPr/>
          </p:nvSpPr>
          <p:spPr>
            <a:xfrm>
              <a:off x="0" y="-76200"/>
              <a:ext cx="10392451" cy="3566167"/>
            </a:xfrm>
            <a:prstGeom prst="rect">
              <a:avLst/>
            </a:prstGeom>
          </p:spPr>
          <p:txBody>
            <a:bodyPr anchor="t" rtlCol="false" tIns="0" lIns="0" bIns="0" rIns="0"/>
            <a:lstStyle/>
            <a:p>
              <a:pPr algn="l" marL="555727" indent="-277863" lvl="1">
                <a:lnSpc>
                  <a:spcPts val="3398"/>
                </a:lnSpc>
                <a:buFont typeface="Arial"/>
                <a:buChar char="•"/>
              </a:pPr>
              <a:r>
                <a:rPr lang="en-US" sz="2574">
                  <a:solidFill>
                    <a:srgbClr val="000000"/>
                  </a:solidFill>
                  <a:latin typeface="Arial"/>
                  <a:ea typeface="Arial"/>
                  <a:cs typeface="Arial"/>
                  <a:sym typeface="Arial"/>
                </a:rPr>
                <a:t>50% faster appointment booking &amp; allocation</a:t>
              </a:r>
            </a:p>
            <a:p>
              <a:pPr algn="l" marL="555727" indent="-277863" lvl="1">
                <a:lnSpc>
                  <a:spcPts val="3398"/>
                </a:lnSpc>
                <a:buFont typeface="Arial"/>
                <a:buChar char="•"/>
              </a:pPr>
              <a:r>
                <a:rPr lang="en-US" sz="2574">
                  <a:solidFill>
                    <a:srgbClr val="000000"/>
                  </a:solidFill>
                  <a:latin typeface="Arial"/>
                  <a:ea typeface="Arial"/>
                  <a:cs typeface="Arial"/>
                  <a:sym typeface="Arial"/>
                </a:rPr>
                <a:t>30% more efficient doctor utilization</a:t>
              </a:r>
            </a:p>
            <a:p>
              <a:pPr algn="l" marL="555727" indent="-277863" lvl="1">
                <a:lnSpc>
                  <a:spcPts val="3398"/>
                </a:lnSpc>
                <a:buFont typeface="Arial"/>
                <a:buChar char="•"/>
              </a:pPr>
              <a:r>
                <a:rPr lang="en-US" sz="2574">
                  <a:solidFill>
                    <a:srgbClr val="000000"/>
                  </a:solidFill>
                  <a:latin typeface="Arial"/>
                  <a:ea typeface="Arial"/>
                  <a:cs typeface="Arial"/>
                  <a:sym typeface="Arial"/>
                </a:rPr>
                <a:t>Significant reduction in patient waiting times &amp; missed appointments</a:t>
              </a:r>
            </a:p>
            <a:p>
              <a:pPr algn="l" marL="555727" indent="-277863" lvl="1">
                <a:lnSpc>
                  <a:spcPts val="3398"/>
                </a:lnSpc>
                <a:buFont typeface="Arial"/>
                <a:buChar char="•"/>
              </a:pPr>
              <a:r>
                <a:rPr lang="en-US" sz="2574">
                  <a:solidFill>
                    <a:srgbClr val="000000"/>
                  </a:solidFill>
                  <a:latin typeface="Arial"/>
                  <a:ea typeface="Arial"/>
                  <a:cs typeface="Arial"/>
                  <a:sym typeface="Arial"/>
                </a:rPr>
                <a:t>Better healthcare experience for both patients &amp; doctors</a:t>
              </a:r>
            </a:p>
          </p:txBody>
        </p:sp>
      </p:grpSp>
      <p:pic>
        <p:nvPicPr>
          <p:cNvPr name="Picture 12" id="12">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30275" t="629" r="30108" b="0"/>
          <a:stretch>
            <a:fillRect/>
          </a:stretch>
        </p:blipFill>
        <p:spPr>
          <a:xfrm flipH="false" flipV="false" rot="0">
            <a:off x="9845781" y="1235995"/>
            <a:ext cx="6136807" cy="8177776"/>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12"/>
                </p:tgtEl>
              </p:cMediaNode>
            </p:video>
          </p:childTnLst>
        </p:cTn>
      </p:par>
    </p:tnLst>
  </p:timing>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24570" y="-2633368"/>
            <a:ext cx="6419437" cy="6339194"/>
            <a:chOff x="0" y="0"/>
            <a:chExt cx="8559249" cy="8452259"/>
          </a:xfrm>
        </p:grpSpPr>
        <p:sp>
          <p:nvSpPr>
            <p:cNvPr name="Freeform 3" id="3"/>
            <p:cNvSpPr/>
            <p:nvPr/>
          </p:nvSpPr>
          <p:spPr>
            <a:xfrm flipH="false" flipV="false" rot="0">
              <a:off x="0" y="0"/>
              <a:ext cx="8559292" cy="8452231"/>
            </a:xfrm>
            <a:custGeom>
              <a:avLst/>
              <a:gdLst/>
              <a:ahLst/>
              <a:cxnLst/>
              <a:rect r="r" b="b" t="t" l="l"/>
              <a:pathLst>
                <a:path h="8452231" w="8559292">
                  <a:moveTo>
                    <a:pt x="0" y="0"/>
                  </a:moveTo>
                  <a:lnTo>
                    <a:pt x="8559292" y="0"/>
                  </a:lnTo>
                  <a:lnTo>
                    <a:pt x="8559292" y="8452231"/>
                  </a:lnTo>
                  <a:lnTo>
                    <a:pt x="0" y="8452231"/>
                  </a:lnTo>
                  <a:lnTo>
                    <a:pt x="0" y="0"/>
                  </a:lnTo>
                  <a:close/>
                </a:path>
              </a:pathLst>
            </a:custGeom>
            <a:blipFill>
              <a:blip r:embed="rId2"/>
              <a:stretch>
                <a:fillRect l="0" t="-33" r="0" b="-34"/>
              </a:stretch>
            </a:blipFill>
          </p:spPr>
        </p:sp>
      </p:grpSp>
      <p:grpSp>
        <p:nvGrpSpPr>
          <p:cNvPr name="Group 4" id="4"/>
          <p:cNvGrpSpPr/>
          <p:nvPr/>
        </p:nvGrpSpPr>
        <p:grpSpPr>
          <a:xfrm rot="0">
            <a:off x="14638263" y="6079821"/>
            <a:ext cx="6070895" cy="6356958"/>
            <a:chOff x="0" y="0"/>
            <a:chExt cx="8094527" cy="8475944"/>
          </a:xfrm>
        </p:grpSpPr>
        <p:sp>
          <p:nvSpPr>
            <p:cNvPr name="Freeform 5" id="5"/>
            <p:cNvSpPr/>
            <p:nvPr/>
          </p:nvSpPr>
          <p:spPr>
            <a:xfrm flipH="false" flipV="false" rot="0">
              <a:off x="0" y="0"/>
              <a:ext cx="8094472" cy="8475980"/>
            </a:xfrm>
            <a:custGeom>
              <a:avLst/>
              <a:gdLst/>
              <a:ahLst/>
              <a:cxnLst/>
              <a:rect r="r" b="b" t="t" l="l"/>
              <a:pathLst>
                <a:path h="8475980" w="8094472">
                  <a:moveTo>
                    <a:pt x="0" y="0"/>
                  </a:moveTo>
                  <a:lnTo>
                    <a:pt x="8094472" y="0"/>
                  </a:lnTo>
                  <a:lnTo>
                    <a:pt x="8094472" y="8475980"/>
                  </a:lnTo>
                  <a:lnTo>
                    <a:pt x="0" y="8475980"/>
                  </a:lnTo>
                  <a:lnTo>
                    <a:pt x="0" y="0"/>
                  </a:lnTo>
                  <a:close/>
                </a:path>
              </a:pathLst>
            </a:custGeom>
            <a:blipFill>
              <a:blip r:embed="rId3"/>
              <a:stretch>
                <a:fillRect l="0" t="-40" r="0" b="-40"/>
              </a:stretch>
            </a:blipFill>
          </p:spPr>
        </p:sp>
      </p:grpSp>
      <p:grpSp>
        <p:nvGrpSpPr>
          <p:cNvPr name="Group 6" id="6"/>
          <p:cNvGrpSpPr/>
          <p:nvPr/>
        </p:nvGrpSpPr>
        <p:grpSpPr>
          <a:xfrm rot="0">
            <a:off x="2125669" y="1430282"/>
            <a:ext cx="14841106" cy="6695122"/>
            <a:chOff x="0" y="0"/>
            <a:chExt cx="19788141" cy="8926829"/>
          </a:xfrm>
        </p:grpSpPr>
        <p:sp>
          <p:nvSpPr>
            <p:cNvPr name="Freeform 7" id="7"/>
            <p:cNvSpPr/>
            <p:nvPr/>
          </p:nvSpPr>
          <p:spPr>
            <a:xfrm flipH="false" flipV="false" rot="0">
              <a:off x="0" y="0"/>
              <a:ext cx="19788124" cy="8926830"/>
            </a:xfrm>
            <a:custGeom>
              <a:avLst/>
              <a:gdLst/>
              <a:ahLst/>
              <a:cxnLst/>
              <a:rect r="r" b="b" t="t" l="l"/>
              <a:pathLst>
                <a:path h="8926830" w="19788124">
                  <a:moveTo>
                    <a:pt x="0" y="0"/>
                  </a:moveTo>
                  <a:lnTo>
                    <a:pt x="19788124" y="0"/>
                  </a:lnTo>
                  <a:lnTo>
                    <a:pt x="19788124" y="8926830"/>
                  </a:lnTo>
                  <a:lnTo>
                    <a:pt x="0" y="8926830"/>
                  </a:lnTo>
                  <a:lnTo>
                    <a:pt x="0" y="0"/>
                  </a:lnTo>
                  <a:close/>
                </a:path>
              </a:pathLst>
            </a:custGeom>
            <a:blipFill>
              <a:blip r:embed="rId4"/>
              <a:stretch>
                <a:fillRect l="-4723" t="0" r="-4723"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DAGi52Mwl24</dc:identifier>
  <dcterms:modified xsi:type="dcterms:W3CDTF">2011-08-01T06:04:30Z</dcterms:modified>
  <cp:revision>1</cp:revision>
  <dc:title>Problem Statement.pptx</dc:title>
</cp:coreProperties>
</file>